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 Cover — ClaimGuard</a:t>
            </a:r>
          </a:p>
          <a:p/>
          <a:p>
            <a:r>
              <a:t>## SLIDE PURPOSE</a:t>
            </a:r>
          </a:p>
          <a:p>
            <a:r>
              <a:t>Introduce ClaimGuard clearly in 20 to 30 seconds as an intelligent expense and receipt verification platform connecting field receipt submission, automated analysis, and manager decision-making.</a:t>
            </a:r>
          </a:p>
          <a:p/>
          <a:p>
            <a:r>
              <a:t>## SAY THIS (30s)</a:t>
            </a:r>
          </a:p>
          <a:p>
            <a:r>
              <a:t>"Welcome everyone. Today we are presenting ClaimGuard — an intelligent expense and receipt verification platform designed for distributed organizations. In modern field teams, receipt submission and expense validation are often disconnected, slow, and heavily manual. ClaimGuard bridges that gap: from the moment an employee snaps a photo of a receipt in the field, our platform extracts the data, validates it against policy, runs deterministic fraud checks, organizes risk signals, and presents decision-ready evidence directly to the finance manager."</a:t>
            </a:r>
          </a:p>
          <a:p/>
          <a:p>
            <a:r>
              <a:t>## SIMPLE EXPLANATION</a:t>
            </a:r>
          </a:p>
          <a:p>
            <a:r>
              <a:t>ClaimGuard is a digital platform that makes it painless for field staff to submit receipts while giving finance managers instant, structured verification so they don't have to manually inspect every paper bill or worry about duplicate payouts.</a:t>
            </a:r>
          </a:p>
          <a:p/>
          <a:p>
            <a:r>
              <a:t>## TECHNICAL EXPLANATION</a:t>
            </a:r>
          </a:p>
          <a:p>
            <a:r>
              <a:t>ClaimGuard combines a lightweight Flutter mobile client with a Fastify REST API, AWS document ingestion (S3, Textract), deterministic fraud rule scoring, Claude 3.5 Bedrock narrative explanation, and Supabase PostgreSQL with Row Level Security.</a:t>
            </a:r>
          </a:p>
          <a:p/>
          <a:p>
            <a:r>
              <a:t>## WHY IT MATTERS</a:t>
            </a:r>
          </a:p>
          <a:p>
            <a:r>
              <a:t>Organizations bleed money and administrative hours through manual receipt audits, delayed submissions, and unspotted duplicate claims. A single unified workflow solves this at the source.</a:t>
            </a:r>
          </a:p>
          <a:p/>
          <a:p>
            <a:r>
              <a:t>## IMPORTANT CAVEAT</a:t>
            </a:r>
          </a:p>
          <a:p>
            <a:r>
              <a:t>ClaimGuard is not an autonomous black-box that silently approves payouts. It is a decision-support and verification system designed to keep humans firmly in control.</a:t>
            </a:r>
          </a:p>
          <a:p/>
          <a:p>
            <a:r>
              <a:t>## TRANSITION</a:t>
            </a:r>
          </a:p>
          <a:p>
            <a:r>
              <a:t>"To understand why this unified approach is necessary, let's look at the reality of expense verification today."</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2: Problem — Expense Verification Is Still Too Manual</a:t>
            </a:r>
          </a:p>
          <a:p/>
          <a:p>
            <a:r>
              <a:t>## SLIDE PURPOSE</a:t>
            </a:r>
          </a:p>
          <a:p>
            <a:r>
              <a:t>Demonstrate the fundamental operational friction of traditional expense auditing without relying on fabricated statistics.</a:t>
            </a:r>
          </a:p>
          <a:p/>
          <a:p>
            <a:r>
              <a:t>## SAY THIS (40s)</a:t>
            </a:r>
          </a:p>
          <a:p>
            <a:r>
              <a:t>"The reality across most distributed organizations is that expense verification is still treated as an afterthought. Field employees collect crumpled paper bills or forward images over WhatsApp. Days or weeks later, a finance manager sits down to manually decipher faded ink, retype vendor names and totals into spreadsheets, and cross-reference dates. When thousands of receipts flow in, humans simply cannot detect whether the same fuel bill was submitted twice, whether a weekend dinner was tagged as client hospitality, or whether a printed tax number is even valid. The result is chronic administrative delay, costly duplicate payouts, and significant financial uncertainty."</a:t>
            </a:r>
          </a:p>
          <a:p/>
          <a:p>
            <a:r>
              <a:t>## SIMPLE EXPLANATION</a:t>
            </a:r>
          </a:p>
          <a:p>
            <a:r>
              <a:t>When people verify receipts by hand, they spend hours doing tedious data entry and comparing receipts one by one. It is easy for duplicate or incorrect claims to slip through unnoticed.</a:t>
            </a:r>
          </a:p>
          <a:p/>
          <a:p>
            <a:r>
              <a:t>## TECHNICAL EXPLANATION</a:t>
            </a:r>
          </a:p>
          <a:p>
            <a:r>
              <a:t>Manual workflows lack automated perceptual hashing for duplicate detection, cannot validate 15-character GSTIN checksums in real-time, and fail to track statistical spending anomalies against historical employee baselines.</a:t>
            </a:r>
          </a:p>
          <a:p/>
          <a:p>
            <a:r>
              <a:t>## WHY IT MATTERS</a:t>
            </a:r>
          </a:p>
          <a:p>
            <a:r>
              <a:t>Every unverified receipt represents potential policy leakage, lost Input Tax Credit (ITC), and wasted manager hours that could be spent on strategic financial planning.</a:t>
            </a:r>
          </a:p>
          <a:p/>
          <a:p>
            <a:r>
              <a:t>## IMPORTANT CAVEAT</a:t>
            </a:r>
          </a:p>
          <a:p>
            <a:r>
              <a:t>The problem is not that finance managers are careless; it's that humans are fundamentally ill-suited for high-volume, repetitive image comparisons and cryptographic checksum calculations under time pressure.</a:t>
            </a:r>
          </a:p>
          <a:p/>
          <a:p>
            <a:r>
              <a:t>## TRANSITION</a:t>
            </a:r>
          </a:p>
          <a:p>
            <a:r>
              <a:t>"This brings us to our core product thesis: what if every single receipt could be systematically screened before a manager ever spends a second reviewing it?"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3: Core Idea — Screening Before Manual Review</a:t>
            </a:r>
          </a:p>
          <a:p/>
          <a:p>
            <a:r>
              <a:t>## SLIDE PURPOSE</a:t>
            </a:r>
          </a:p>
          <a:p>
            <a:r>
              <a:t>Position ClaimGuard not as an isolated OCR utility, but as a complete screening and evidence synthesis engine that transforms raw receipt images into structured, risk-aware manager reviews.</a:t>
            </a:r>
          </a:p>
          <a:p/>
          <a:p>
            <a:r>
              <a:t>## SAY THIS (40s)</a:t>
            </a:r>
          </a:p>
          <a:p>
            <a:r>
              <a:t>"What if every receipt could be screened before manual review? ClaimGuard changes the paradigm entirely. Instead of handing a pile of raw images to an approver, our system intercepts each receipt the second it is submitted. It extracts structured fields, tests arithmetic consistency, verifies merchant authenticity, scans historical databases for perceptual duplicates, evaluates spending anomalies, and synthesizes a clear risk assessment. By the time the manager opens the claim, 90% of the verification heavy lifting is already completed and organized into actionable evidence."</a:t>
            </a:r>
          </a:p>
          <a:p/>
          <a:p>
            <a:r>
              <a:t>## SIMPLE EXPLANATION</a:t>
            </a:r>
          </a:p>
          <a:p>
            <a:r>
              <a:t>ClaimGuard does the homework before the manager opens the file. It reads the receipt, checks the math, checks if it's already been paid before, and highlights anything unusual so the manager can approve clean claims in seconds and focus attention only where it matters.</a:t>
            </a:r>
          </a:p>
          <a:p/>
          <a:p>
            <a:r>
              <a:t>## TECHNICAL EXPLANATION</a:t>
            </a:r>
          </a:p>
          <a:p>
            <a:r>
              <a:t>The core architecture sits between the presentation layer and the database as an asynchronous screening pipeline. It couples OCR extraction with deterministic rule engines and an LLM contextualization layer, outputting an immutable risk score and an authenticity state token.</a:t>
            </a:r>
          </a:p>
          <a:p/>
          <a:p>
            <a:r>
              <a:t>## WHY IT MATTERS</a:t>
            </a:r>
          </a:p>
          <a:p>
            <a:r>
              <a:t>Pre-screening receipts inverts the cost curve: straightforward, policy-compliant expenses take seconds to approve, while suspicious or non-compliant claims are instantly flagged with supporting proof.</a:t>
            </a:r>
          </a:p>
          <a:p/>
          <a:p>
            <a:r>
              <a:t>## IMPORTANT CAVEAT</a:t>
            </a:r>
          </a:p>
          <a:p>
            <a:r>
              <a:t>ClaimGuard does not eliminate the manager. We do not believe in fully autonomous financial approvals. ClaimGuard organizes evidence to empower human judgment, not bypass it.</a:t>
            </a:r>
          </a:p>
          <a:p/>
          <a:p>
            <a:r>
              <a:t>## TRANSITION</a:t>
            </a:r>
          </a:p>
          <a:p>
            <a:r>
              <a:t>"Let's trace exactly how one receipt travels through this multi-layered verification journey."</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4: Complete Workflow — One Workflow, Multiple Layers</a:t>
            </a:r>
          </a:p>
          <a:p/>
          <a:p>
            <a:r>
              <a:t>## SLIDE PURPOSE</a:t>
            </a:r>
          </a:p>
          <a:p>
            <a:r>
              <a:t>Break down the complete receipt verification lifecycle into 7 clear, sequential stages: Capture, Extract, Validate, Detect, Assess, Review, and Audit.</a:t>
            </a:r>
          </a:p>
          <a:p/>
          <a:p>
            <a:r>
              <a:t>## SAY THIS (45s)</a:t>
            </a:r>
          </a:p>
          <a:p>
            <a:r>
              <a:t>"ClaimGuard structures receipt verification into seven rigorous stages. First, Capture: the employee captures a photo on their mobile device. Second, Extract: AWS Textract extracts vendors, amounts, dates, and tax numbers with per-field confidence scores. Third, Validate: deterministic rules check mathematical consistency, date windows, and tax ID structure. Fourth, Detect: the engine computes image perceptual hashes to identify duplicates and checks historical spending anomalies. Fifth, Assess: signals compound into a deterministic 0 to 100 risk score and evidence state. Sixth, Review: the manager reviews the claim in an operations cockpit with highlighted evidence. And seventh, Audit: every action, flag, and approval is permanently logged in an immutable audit trail."</a:t>
            </a:r>
          </a:p>
          <a:p/>
          <a:p>
            <a:r>
              <a:t>## SIMPLE EXPLANATION</a:t>
            </a:r>
          </a:p>
          <a:p>
            <a:r>
              <a:t>A receipt moves through seven simple checkpoints: it is snapped on a phone, read by the computer, checked against company rules, scanned for duplicates, scored for risk, reviewed by a manager, and recorded permanently for auditors.</a:t>
            </a:r>
          </a:p>
          <a:p/>
          <a:p>
            <a:r>
              <a:t>## TECHNICAL EXPLANATION</a:t>
            </a:r>
          </a:p>
          <a:p>
            <a:r>
              <a:t>The pipeline transitions through stateful boundaries: from client-side capture to multi-part S3 upload, event-driven Textract extraction, in-memory heuristic validation, perceptual hash lookup (Hamming distance &lt;= 5), deterministic risk scoring, manager action dispatch, and Supabase audit row creation.</a:t>
            </a:r>
          </a:p>
          <a:p/>
          <a:p>
            <a:r>
              <a:t>## WHY IT MATTERS</a:t>
            </a:r>
          </a:p>
          <a:p>
            <a:r>
              <a:t>Breaking the verification process into distinct layers prevents hidden failure points. If OCR confidence is low, the pipeline flags it immediately rather than hallucinating wrong numbers.</a:t>
            </a:r>
          </a:p>
          <a:p/>
          <a:p>
            <a:r>
              <a:t>## IMPORTANT CAVEAT</a:t>
            </a:r>
          </a:p>
          <a:p>
            <a:r>
              <a:t>Each stage is loosely coupled and observable. If any upstream stage fails (such as an unreadable blurry photo), subsequent stages degrade gracefully into a human-review state rather than throwing unhandled runtime exceptions.</a:t>
            </a:r>
          </a:p>
          <a:p/>
          <a:p>
            <a:r>
              <a:t>## TRANSITION</a:t>
            </a:r>
          </a:p>
          <a:p>
            <a:r>
              <a:t>"Now let's step into the shoes of the field employee and see how this feels on a mobile phone."</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5: Employee Experience — Mobile-First Simplicity</a:t>
            </a:r>
          </a:p>
          <a:p/>
          <a:p>
            <a:r>
              <a:t>## SLIDE PURPOSE</a:t>
            </a:r>
          </a:p>
          <a:p>
            <a:r>
              <a:t>Showcase the frictionless mobile employee interface built with Flutter, demonstrating how complex verification machinery is hidden behind an intuitive, lightweight receipt capture experience.</a:t>
            </a:r>
          </a:p>
          <a:p/>
          <a:p>
            <a:r>
              <a:t>## SAY THIS (40s)</a:t>
            </a:r>
          </a:p>
          <a:p>
            <a:r>
              <a:t>"For employees in the field, submitting an expense cannot feel like doing tax accounting. ClaimGuard delivers a mobile-first interface built in Flutter. The employee simply taps the camera, aligns the receipt inside the viewfinder guide, and snaps the photo. Within seconds, the app returns a structured preview showing the extracted merchant name, amount, date, and category. The employee can verify or adjust any low-confidence field with one tap, add optional travel context, and hit submit. From there, real-time push cards keep them informed of verification progress and approval status without endless email threads."</a:t>
            </a:r>
          </a:p>
          <a:p/>
          <a:p>
            <a:r>
              <a:t>## SIMPLE EXPLANATION</a:t>
            </a:r>
          </a:p>
          <a:p>
            <a:r>
              <a:t>Field employees don't need any training. They open the app, take a picture of their receipt, see the details filled in automatically, and tap submit. They can see right away when their claim is received, checked, and approved.</a:t>
            </a:r>
          </a:p>
          <a:p/>
          <a:p>
            <a:r>
              <a:t>## TECHNICAL EXPLANATION</a:t>
            </a:r>
          </a:p>
          <a:p>
            <a:r>
              <a:t>The mobile client is built in Flutter 3.44 with Dart 3.12, utilizing reactive state management and localized device camera integration. It communicates with the backend via stateless Bearer token authentication, sending either multipart image streams or base64 payloads to `/api/v1/receipts/upload`.</a:t>
            </a:r>
          </a:p>
          <a:p/>
          <a:p>
            <a:r>
              <a:t>## WHY IT MATTERS</a:t>
            </a:r>
          </a:p>
          <a:p>
            <a:r>
              <a:t>When expense filing is tedious, employees postpone submissions for weeks, causing sudden budget spikes and lost receipts. Immediate mobile capture keeps submissions timely and organized.</a:t>
            </a:r>
          </a:p>
          <a:p/>
          <a:p>
            <a:r>
              <a:t>## IMPORTANT CAVEAT</a:t>
            </a:r>
          </a:p>
          <a:p>
            <a:r>
              <a:t>The mobile application intentionally contains zero privileged business logic or fraud rule definitions. All security boundaries and evaluations execute exclusively on the authenticated backend.</a:t>
            </a:r>
          </a:p>
          <a:p/>
          <a:p>
            <a:r>
              <a:t>## TRANSITION</a:t>
            </a:r>
          </a:p>
          <a:p>
            <a:r>
              <a:t>"Now that the claim is submitted, let's switch to the manager's screen and look at the review experience."</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6: Manager Experience — The Full Operational Picture</a:t>
            </a:r>
          </a:p>
          <a:p/>
          <a:p>
            <a:r>
              <a:t>## SLIDE PURPOSE</a:t>
            </a:r>
          </a:p>
          <a:p>
            <a:r>
              <a:t>Demonstrate how the Manager Operations Dashboard converts disparate verification signals into a decision-ready cockpit with split-screen receipt review, risk tier filtering, and one-click actions.</a:t>
            </a:r>
          </a:p>
          <a:p/>
          <a:p>
            <a:r>
              <a:t>## SAY THIS (45s)</a:t>
            </a:r>
          </a:p>
          <a:p>
            <a:r>
              <a:t>"On the manager's side, ClaimGuard replaces endless spreadsheet rows with an operations cockpit. The manager sees a live queue filtered by risk: Low Risk claims that are safe for rapid approval, and Medium, High, or Critical claims that require attention. Opening a claim reveals a split-screen workspace: the original high-resolution receipt on the left with bounding box overlays, and structured verification evidence on the right. The manager sees the exact OCR extracted values, the mathematical risk score, any flagged duplicate claims side-by-side, and an AI-generated explanation summarizing key findings. With a single click, they can Approve, Reject, or Request Clarification with mandatory audit notes."</a:t>
            </a:r>
          </a:p>
          <a:p/>
          <a:p>
            <a:r>
              <a:t>## SIMPLE EXPLANATION</a:t>
            </a:r>
          </a:p>
          <a:p>
            <a:r>
              <a:t>Instead of hunting through receipts, managers get an organized screen that shows the receipt on one side and all the facts on the other: what was bought, whether the price is normal, if the receipt was used before, and whether company rules were followed. Approving or rejecting takes one click.</a:t>
            </a:r>
          </a:p>
          <a:p/>
          <a:p>
            <a:r>
              <a:t>## TECHNICAL EXPLANATION</a:t>
            </a:r>
          </a:p>
          <a:p>
            <a:r>
              <a:t>The manager surface is built on Next.js 15 with React 19 and Tailwind CSS, fetching filtered claim collections via Server Components and reactive client state. The UI directly reflects PostgreSQL Row Level Security rules, ensuring managers only view and act upon claims belonging to their assigned company ID.</a:t>
            </a:r>
          </a:p>
          <a:p/>
          <a:p>
            <a:r>
              <a:t>## WHY IT MATTERS</a:t>
            </a:r>
          </a:p>
          <a:p>
            <a:r>
              <a:t>Managers typically spend 5 to 10 minutes cross-checking a single non-standard claim. By organizing extracted fields and rule violations side-by-side with the original image, review time drops significantly.</a:t>
            </a:r>
          </a:p>
          <a:p/>
          <a:p>
            <a:r>
              <a:t>## IMPORTANT CAVEAT</a:t>
            </a:r>
          </a:p>
          <a:p>
            <a:r>
              <a:t>The dashboard is an evidence viewer, not an automated gatekeeper. The manager retains full discretionary authority to override flags if a legitimate business justification exists.</a:t>
            </a:r>
          </a:p>
          <a:p/>
          <a:p>
            <a:r>
              <a:t>## TRANSITION</a:t>
            </a:r>
          </a:p>
          <a:p>
            <a:r>
              <a:t>"Now let's dive under the hood and examine the first foundational technical layer: Optical Character Recognition."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7: OCR — From Image to Structured Information</a:t>
            </a:r>
          </a:p>
          <a:p/>
          <a:p>
            <a:r>
              <a:t>## SLIDE PURPOSE</a:t>
            </a:r>
          </a:p>
          <a:p>
            <a:r>
              <a:t>Explain what OCR actually does, how AWS Textract extracts structured data with confidence scores, why OCR makes mistakes, and why OCR success does not prove authenticity.</a:t>
            </a:r>
          </a:p>
          <a:p/>
          <a:p>
            <a:r>
              <a:t>## SAY THIS (50s)</a:t>
            </a:r>
          </a:p>
          <a:p>
            <a:r>
              <a:t>"Let's be very clear about what Optical Character Recognition does and does not do. OCR simply answers the question: 'What characters and numbers are printed on this piece of paper?' ClaimGuard utilizes AWS Textract's AnalyzeExpense API. When a receipt arrives, Textract identifies geometric text blocks, key-value pairs, and line items — extracting the vendor name, total amount, invoice date, and 15-character GST tax identification number. Crucially, Textract provides confidence scores for each extracted field. If ink is smudged or folded, confidence drops. But here is the most critical principle in ClaimGuard: successful OCR extraction does not mean the receipt is authentic. A completely fake, fabricated invoice printed on paper will extract with 100% OCR confidence. That is why OCR is only the beginning of our pipeline."</a:t>
            </a:r>
          </a:p>
          <a:p/>
          <a:p>
            <a:r>
              <a:t>## SIMPLE EXPLANATION</a:t>
            </a:r>
          </a:p>
          <a:p>
            <a:r>
              <a:t>OCR is like a digital scanner that reads the words and numbers printed on a receipt and converts them into computer data. But just because a computer can read a piece of paper clearly doesn't mean that the paper is a real receipt. It only means the ink is readable.</a:t>
            </a:r>
          </a:p>
          <a:p/>
          <a:p>
            <a:r>
              <a:t>## TECHNICAL EXPLANATION</a:t>
            </a:r>
          </a:p>
          <a:p>
            <a:r>
              <a:t>The OCR pipeline sends S3 object references to `Textract.analyzeExpense()`. The response returns `SummaryFields` (VENDOR_NAME, TOTAL, INVOICE_RECEIPT_DATE) and `LineItemGroups`. A deterministic normalizer parses date formats into ISO 8601 (`YYYY-MM-DD`), strips currency symbols into floating-point amounts, and extracts 15-character alphanumeric GSTIN strings via regular expressions.</a:t>
            </a:r>
          </a:p>
          <a:p/>
          <a:p>
            <a:r>
              <a:t>## WHY IT MATTERS</a:t>
            </a:r>
          </a:p>
          <a:p>
            <a:r>
              <a:t>Treating OCR as a complete verification solution is a dangerous industry pitfall. By decoupling text extraction from document authenticity, ClaimGuard avoids false confidence.</a:t>
            </a:r>
          </a:p>
          <a:p/>
          <a:p>
            <a:r>
              <a:t>## IMPORTANT CAVEAT</a:t>
            </a:r>
          </a:p>
          <a:p>
            <a:r>
              <a:t>OCR algorithms struggle with thermal paper fading, heavy perspective skew, and poor camera lighting. In ClaimGuard, any field extraction with confidence below 70% triggers an `OCR_LOW_CONFIDENCE` flag and routes the claim to the employee for verification.</a:t>
            </a:r>
          </a:p>
          <a:p/>
          <a:p>
            <a:r>
              <a:t>## TRANSITION</a:t>
            </a:r>
          </a:p>
          <a:p>
            <a:r>
              <a:t>"If OCR only reads the text, how do we know if the claim is valid or fraudulent? That brings us to our deterministic validation and fraud signals."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8: Validation &amp; Fraud Signals — OCR Is Only the Beginning</a:t>
            </a:r>
          </a:p>
          <a:p/>
          <a:p>
            <a:r>
              <a:t>## SLIDE PURPOSE</a:t>
            </a:r>
          </a:p>
          <a:p>
            <a:r>
              <a:t>Explain the crucial distinction between OCR, Validation, and Fraud Signals, detailing the 6 deterministic mathematical checks executed by ClaimGuard.</a:t>
            </a:r>
          </a:p>
          <a:p/>
          <a:p>
            <a:r>
              <a:t>## SAY THIS (50s)</a:t>
            </a:r>
          </a:p>
          <a:p>
            <a:r>
              <a:t>"Once the text is extracted, ClaimGuard asks two distinct questions: first, 'Does this extracted data make business sense?' That is Validation. And second, 'Are there indicators of fraudulent manipulation or abuse?' Those are our Fraud Signals. ClaimGuard evaluates six deterministic signals. First, Perceptual Duplicate Hashing: we generate visual image fingerprints and compute Hamming distance. If distance is five or less, the receipt was previously submitted — even if cropped or re-photographed. Second, GSTIN Luhn Modulo-36 Checksums: we mathematically verify that the printed 15-character tax number has a valid state code, PAN structure, and checksum character. Third, Amount Anomaly Detection: flagging claims that exceed twice the employee's historical category baseline. Fourth, Merchant Taxonomy Mismatch: catching personal dining billed as vehicle fuel. Fifth, Policy Limit Breaches: enforcing per-claim spending caps. And sixth, Date Timing Anomalies: catching future dates or stale expenses over 90 days old."</a:t>
            </a:r>
          </a:p>
          <a:p/>
          <a:p>
            <a:r>
              <a:t>## SIMPLE EXPLANATION</a:t>
            </a:r>
          </a:p>
          <a:p>
            <a:r>
              <a:t>Validation checks if the receipt follows company rules — like not submitting receipts older than three months. Fraud checks look for suspicious patterns — like someone submitting the exact same photo twice, entering an invented tax number, or claiming four times more money than anyone else in their role.</a:t>
            </a:r>
          </a:p>
          <a:p/>
          <a:p>
            <a:r>
              <a:t>## TECHNICAL EXPLANATION</a:t>
            </a:r>
          </a:p>
          <a:p>
            <a:r>
              <a:t>The signals run as pure, hermetic TypeScript functions in `services/fraudService.ts`. Perceptual hash comparisons use block-mean 64-bit hexadecimal fingerprints. GSTIN validation tests state codes (`01`–`38`, `97`) and runs ISO/IEC 7064 Modulo 36,36 checks. Anomaly detection evaluates rolling statistical means where sample size &gt;= 3.</a:t>
            </a:r>
          </a:p>
          <a:p/>
          <a:p>
            <a:r>
              <a:t>## WHY IT MATTERS</a:t>
            </a:r>
          </a:p>
          <a:p>
            <a:r>
              <a:t>Deterministic algorithms never hallucinate, never change results between executions, and can be fully audited in a court of law or regulatory tax inspection.</a:t>
            </a:r>
          </a:p>
          <a:p/>
          <a:p>
            <a:r>
              <a:t>## IMPORTANT CAVEAT</a:t>
            </a:r>
          </a:p>
          <a:p>
            <a:r>
              <a:t>Fraud signals are not absolute proof of criminal intent. A duplicate hash might be an employee re-submitting a rejected claim with manager approval, and an amount anomaly might be an emergency repair. Signals represent structured evidence, not a judicial verdict.</a:t>
            </a:r>
          </a:p>
          <a:p/>
          <a:p>
            <a:r>
              <a:t>## TRANSITION</a:t>
            </a:r>
          </a:p>
          <a:p>
            <a:r>
              <a:t>"Having evaluated these individual signals, how does the system combine them into a clear summary for the manager? That is the job of the ClaimGuard Risk Engine."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9: Risk Engine — Decision-Ready Risk Prioritization</a:t>
            </a:r>
          </a:p>
          <a:p/>
          <a:p>
            <a:r>
              <a:t>## SLIDE PURPOSE</a:t>
            </a:r>
          </a:p>
          <a:p>
            <a:r>
              <a:t>Explain how ClaimGuard aggregates multiple fraud signals into a bounded 0–100 deterministic risk score and maps them to 5 qualified evidence authenticity states.</a:t>
            </a:r>
          </a:p>
          <a:p/>
          <a:p>
            <a:r>
              <a:t>## SAY THIS (45s)</a:t>
            </a:r>
          </a:p>
          <a:p>
            <a:r>
              <a:t>"A manager reviewing hundreds of claims cannot mentally juggle six independent mathematical probabilities simultaneously. The ClaimGuard Risk Engine aggregates these signals into an objective zero-to-one-hundred integer score. Each signal carries an explicit, configurable point impact: a duplicate receipt adds 40 points; an invalid tax checksum adds 25 points; an amount anomaly adds 20 points. Compounding violations quickly push a claim into higher severity tiers: Low, Medium, High, or Critical. From this score, ClaimGuard derives one of five qualified evidence states: Verified, Likely Valid, Review Required, Suspicious, or Unable to Verify. Notice our deliberate language: we never claim a receipt is '100% Guaranteed Genuine'. We state clearly what the evidence shows."</a:t>
            </a:r>
          </a:p>
          <a:p/>
          <a:p>
            <a:r>
              <a:t>## SIMPLE EXPLANATION</a:t>
            </a:r>
          </a:p>
          <a:p>
            <a:r>
              <a:t>Instead of giving managers a confusing list of technical warnings, ClaimGuard adds up the risk points into an easy score from 0 to 100 and labels the claim with a clear badge: green for Verified, amber for Review Required, or red for Suspicious.</a:t>
            </a:r>
          </a:p>
          <a:p/>
          <a:p>
            <a:r>
              <a:t>## TECHNICAL EXPLANATION</a:t>
            </a:r>
          </a:p>
          <a:p>
            <a:r>
              <a:t>$$\text{Score} = \min\left(100, \max\left(0, \sum \text{Impact}_i\right)\right)$$</a:t>
            </a:r>
          </a:p>
          <a:p>
            <a:r>
              <a:t>Scores 0–24 map to LOW (Approve Recommended), 25–49 to MEDIUM (Manual Review Required), 50–74 to HIGH (Investigation Required), and 75–100 to CRITICAL (Reject Recommended). The authenticity state machine checks for low OCR confidence first (`UNABLE_TO_VERIFY`), then duplicate/checksum violations (`SUSPICIOUS`), then policy anomalies (`REVIEW_REQUIRED`), and finally zero-signal claims (`VERIFIED`).</a:t>
            </a:r>
          </a:p>
          <a:p/>
          <a:p>
            <a:r>
              <a:t>## WHY IT MATTERS</a:t>
            </a:r>
          </a:p>
          <a:p>
            <a:r>
              <a:t>Risk tiers allow organizations to implement triage routing: low-risk claims under policy caps can be batched with one click, while high-risk claims are automatically routed to senior compliance officers.</a:t>
            </a:r>
          </a:p>
          <a:p/>
          <a:p>
            <a:r>
              <a:t>## IMPORTANT CAVEAT</a:t>
            </a:r>
          </a:p>
          <a:p>
            <a:r>
              <a:t>The weights and point thresholds presented here are illustrative defaults configured for Indian SME and field enterprise operations. Organizations can calibrate threshold weights to match their specific industry risk tolerance.</a:t>
            </a:r>
          </a:p>
          <a:p/>
          <a:p>
            <a:r>
              <a:t>## TRANSITION</a:t>
            </a:r>
          </a:p>
          <a:p>
            <a:r>
              <a:t>"Now that we understand how deterministic risk scoring works, where does Artificial Intelligence fit in? Let's look at what AI does, and what it does NOT do."</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10: AI — Assistance, Not Autonomous Control</a:t>
            </a:r>
          </a:p>
          <a:p/>
          <a:p>
            <a:r>
              <a:t>## SLIDE PURPOSE</a:t>
            </a:r>
          </a:p>
          <a:p>
            <a:r>
              <a:t>Delineate the precise boundary of Generative AI within ClaimGuard, establishing that AI serves strictly as an explanatory synthesis layer, while authorization, security controls, and approvals remain deterministic and human-controlled.</a:t>
            </a:r>
          </a:p>
          <a:p/>
          <a:p>
            <a:r>
              <a:t>## SAY THIS (50s)</a:t>
            </a:r>
          </a:p>
          <a:p>
            <a:r>
              <a:t>"In enterprise financial software, putting an unconstrained generative AI in charge of approving or rejecting money transfers is reckless. ClaimGuard draws a strict, non-negotiable boundary around the role of AI. What does AI do? It translates complex mathematical signals into plain-English explanations. When Claude 3.5 Sonnet is invoked on AWS Bedrock, it synthesizes the duplicate hash match, the amount anomaly, and the employee history into a two-sentence narrative that tells the manager exactly what went wrong and what to check. What does AI NOT do? AI never approves a claim. AI never rejects a claim. AI cannot override security rules, cannot mutate database records, and cannot bypass human authorization. Deterministic code does the math; human managers make the decision; AI simply explains the evidence."</a:t>
            </a:r>
          </a:p>
          <a:p/>
          <a:p>
            <a:r>
              <a:t>## SIMPLE EXPLANATION</a:t>
            </a:r>
          </a:p>
          <a:p>
            <a:r>
              <a:t>Artificial Intelligence is our research assistant, not our boss. It reads through all the technical data and writes a clear summary for the manager in plain English. But it is never allowed to spend company money, change records, or approve or reject claims on its own.</a:t>
            </a:r>
          </a:p>
          <a:p/>
          <a:p>
            <a:r>
              <a:t>## TECHNICAL EXPLANATION</a:t>
            </a:r>
          </a:p>
          <a:p>
            <a:r>
              <a:t>ClaimGuard invokes Anthropic Claude 3.5 on AWS Bedrock via strict JSON schema enforcement. The model receives raw telemetry (OCR fields, confidence maps, triggered rule IDs, mathematical delta ratios) and outputs structured fields (`summaryNarrative`, `keyConcerns`, `recommendedInspectionSteps`). The model has no write access or database mutation capabilities.</a:t>
            </a:r>
          </a:p>
          <a:p/>
          <a:p>
            <a:r>
              <a:t>## WHY IT MATTERS</a:t>
            </a:r>
          </a:p>
          <a:p>
            <a:r>
              <a:t>Auditors and enterprise compliance officers will reject black-box financial systems that cannot explain their reasoning. By restricting LLMs to narrative synthesis, ClaimGuard ensures total auditability.</a:t>
            </a:r>
          </a:p>
          <a:p/>
          <a:p>
            <a:r>
              <a:t>## IMPORTANT CAVEAT</a:t>
            </a:r>
          </a:p>
          <a:p>
            <a:r>
              <a:t>LLMs can experience variability in tone or formatting if not tightly controlled. ClaimGuard enforces temperature=0 and validates Bedrock JSON output against a strict Zod runtime schema before rendering to the frontend.</a:t>
            </a:r>
          </a:p>
          <a:p/>
          <a:p>
            <a:r>
              <a:t>## TRANSITION</a:t>
            </a:r>
          </a:p>
          <a:p>
            <a:r>
              <a:t>"Now that we've seen both the math and the AI layer, let's look at the overarching cloud and backend architecture that powers the entire system."</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11: Architecture — Connected, Scalable Enterprise Platform</a:t>
            </a:r>
          </a:p>
          <a:p/>
          <a:p>
            <a:r>
              <a:t>## SLIDE PURPOSE</a:t>
            </a:r>
          </a:p>
          <a:p>
            <a:r>
              <a:t>Present the multi-tier architectural topology of ClaimGuard, explaining why clients communicate through a dedicated API, why Supabase is the primary database, and why AWS handles specialized cloud ingestion.</a:t>
            </a:r>
          </a:p>
          <a:p/>
          <a:p>
            <a:r>
              <a:t>## SAY THIS (50s)</a:t>
            </a:r>
          </a:p>
          <a:p>
            <a:r>
              <a:t>"ClaimGuard is architected as a decoupled, multi-tier enterprise platform. At the presentation tier, we have our Flutter mobile client for field staff and our Next.js web application for finance controllers. Neither client talks directly to raw cloud infrastructure or storage buckets. Instead, all requests pass through the ClaimGuard Fastify REST API. The API layer enforces session authentication, role-based authorization, and organization isolation. Below the API sit our core domains: Claim Lifecycle, Receipt Processing, Fraud Rules, Risk Scoring, and Immutable Auditing. For persistence, Supabase PostgreSQL acts as our single source of truth for relational data, foreign keys, and Row Level Security. Meanwhile, AWS provides specialized serverless processing: S3 for encrypted receipt storage, Textract for document OCR, Step Functions for asynchronous orchestration, EventBridge for event dispatch, Bedrock for AI explanation, and CloudWatch for observability."</a:t>
            </a:r>
          </a:p>
          <a:p/>
          <a:p>
            <a:r>
              <a:t>## SIMPLE EXPLANATION</a:t>
            </a:r>
          </a:p>
          <a:p>
            <a:r>
              <a:t>The platform is organized into clean layers like a modern office: the apps on phones and laptops talk to a secure central API door. Behind that door, our backend manages accounts and checks rules. We use Supabase to keep all company records and user accounts strictly organized, while Amazon Web Services handles heavy-duty tasks like document scanning and AI explanations.</a:t>
            </a:r>
          </a:p>
          <a:p/>
          <a:p>
            <a:r>
              <a:t>## TECHNICAL EXPLANATION</a:t>
            </a:r>
          </a:p>
          <a:p>
            <a:r>
              <a:t>The architecture separates transactional relational persistence (Supabase PostgreSQL with RLS) from heavy computational workloads (AWS serverless). The Fastify backend utilizes a Provider Strategy Pattern (`ReceiptStorageProvider`, `OCRProvider`, `AIProvider`), allowing the system to run in hermetic offline mock mode or scale horizontally on AWS without altering core claim state machines.</a:t>
            </a:r>
          </a:p>
          <a:p/>
          <a:p>
            <a:r>
              <a:t>## WHY IT MATTERS</a:t>
            </a:r>
          </a:p>
          <a:p>
            <a:r>
              <a:t>Direct client-to-database connections violate enterprise security standards. Centralizing business logic behind an authenticated API ensures that sensitive fraud rules, cryptographic salts, and API keys are never exposed on mobile devices.</a:t>
            </a:r>
          </a:p>
          <a:p/>
          <a:p>
            <a:r>
              <a:t>## IMPORTANT CAVEAT</a:t>
            </a:r>
          </a:p>
          <a:p>
            <a:r>
              <a:t>Service-role Supabase tokens and AWS administrator IAM credentials are strictly restricted to the server environment. The frontend clients only receive scoped, short-lived JWT tokens.</a:t>
            </a:r>
          </a:p>
          <a:p/>
          <a:p>
            <a:r>
              <a:t>## TRANSITION</a:t>
            </a:r>
          </a:p>
          <a:p>
            <a:r>
              <a:t>"To see how these architectural components collaborate in real-time, let's trace the complete lifecycle of one receipt from capture to final reimbursement."</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12: Complete Data Pipeline — The 15-Step Receipt Journey</a:t>
            </a:r>
          </a:p>
          <a:p/>
          <a:p>
            <a:r>
              <a:t>## SLIDE PURPOSE</a:t>
            </a:r>
          </a:p>
          <a:p>
            <a:r>
              <a:t>Walk step-by-step through the 15 discrete phases of a single receipt's lifecycle, establishing technical credibility for engineering judges and clarity for executive audiences.</a:t>
            </a:r>
          </a:p>
          <a:p/>
          <a:p>
            <a:r>
              <a:t>## SAY THIS (55s)</a:t>
            </a:r>
          </a:p>
          <a:p>
            <a:r>
              <a:t>"Let's trace the complete journey of a single receipt through ClaimGuard. </a:t>
            </a:r>
          </a:p>
          <a:p>
            <a:r>
              <a:t>Step 1: The employee captures a photo on Flutter mobile.</a:t>
            </a:r>
          </a:p>
          <a:p>
            <a:r>
              <a:t>Step 2: The app uploads the encrypted image to our backend API.</a:t>
            </a:r>
          </a:p>
          <a:p>
            <a:r>
              <a:t>Step 3: The API generates a pending claim entity with state SUBMITTED.</a:t>
            </a:r>
          </a:p>
          <a:p>
            <a:r>
              <a:t>Step 4: The receipt image is stored in a private S3 bucket with KMS encryption.</a:t>
            </a:r>
          </a:p>
          <a:p>
            <a:r>
              <a:t>Step 5: EventBridge detects the upload and triggers AWS Textract.</a:t>
            </a:r>
          </a:p>
          <a:p>
            <a:r>
              <a:t>Step 6: Textract parses document key-values and line items.</a:t>
            </a:r>
          </a:p>
          <a:p>
            <a:r>
              <a:t>Step 7: The normalizer standardizes dates, amounts, and GSTIN strings.</a:t>
            </a:r>
          </a:p>
          <a:p>
            <a:r>
              <a:t>Step 8: Mathematical validation checks arithmetic and policy caps.</a:t>
            </a:r>
          </a:p>
          <a:p>
            <a:r>
              <a:t>Step 9: The fraud engine tests perceptual hashes and anomaly deviations.</a:t>
            </a:r>
          </a:p>
          <a:p>
            <a:r>
              <a:t>Step 10: The risk engine calculates the 0 to 100 score and assigns an evidence state.</a:t>
            </a:r>
          </a:p>
          <a:p>
            <a:r>
              <a:t>Step 11: AWS Bedrock generates a natural-language summary of findings.</a:t>
            </a:r>
          </a:p>
          <a:p>
            <a:r>
              <a:t>Step 12: All records synchronize to Supabase PostgreSQL under RLS policies.</a:t>
            </a:r>
          </a:p>
          <a:p>
            <a:r>
              <a:t>Step 13: The manager receives real-time evidence in their operations queue.</a:t>
            </a:r>
          </a:p>
          <a:p>
            <a:r>
              <a:t>Step 14: The manager approves or rejects, writing an immutable audit log row.</a:t>
            </a:r>
          </a:p>
          <a:p>
            <a:r>
              <a:t>And Step 15: The employee receives an instant status update on their phone."</a:t>
            </a:r>
          </a:p>
          <a:p/>
          <a:p>
            <a:r>
              <a:t>## SIMPLE EXPLANATION</a:t>
            </a:r>
          </a:p>
          <a:p>
            <a:r>
              <a:t>This is the complete relay race of a receipt: the phone uploads it, the cloud reads it, the computer double-checks the numbers, the fraud engine looks for tricks, the AI writes a summary, the database records the facts, the manager makes the final decision, and the phone gets the result. Everything happens in seconds.</a:t>
            </a:r>
          </a:p>
          <a:p/>
          <a:p>
            <a:r>
              <a:t>## TECHNICAL EXPLANATION</a:t>
            </a:r>
          </a:p>
          <a:p>
            <a:r>
              <a:t>The pipeline operates as an asynchronous state machine:</a:t>
            </a:r>
          </a:p>
          <a:p>
            <a:r>
              <a:t>`UPLOADED` -&gt; `INGESTED` -&gt; `OCR_COMPLETED` -&gt; `VALIDATED` -&gt; `SIGNALS_EVALUATED` -&gt; `RISK_SCORED` -&gt; `AWAITING_MANAGER_DECISION` -&gt; `DECIDED` -&gt; `AUDIT_COMMITTED`.</a:t>
            </a:r>
          </a:p>
          <a:p>
            <a:r>
              <a:t>Each stage writes transactional audit markers, allowing complete timeline reconstruction and distributed tracing via AWS CloudWatch and Supabase change feeds.</a:t>
            </a:r>
          </a:p>
          <a:p/>
          <a:p>
            <a:r>
              <a:t>## WHY IT MATTERS</a:t>
            </a:r>
          </a:p>
          <a:p>
            <a:r>
              <a:t>When an auditor or tax official questions an expense claim months later, ClaimGuard can replay the exact sequence: the original image hash, the Textract confidence scores, the mathematical flags triggered, and the specific manager's cryptographic identity and timestamp.</a:t>
            </a:r>
          </a:p>
          <a:p/>
          <a:p>
            <a:r>
              <a:t>## IMPORTANT CAVEAT</a:t>
            </a:r>
          </a:p>
          <a:p>
            <a:r>
              <a:t>In offline or demo mode, this exact pipeline executes hermetically through local mock providers (`MockOCRProvider`, `MockAIProvider`), ensuring flawless demonstration reliability even without active cloud connectivity.</a:t>
            </a:r>
          </a:p>
          <a:p/>
          <a:p>
            <a:r>
              <a:t>## TRANSITION</a:t>
            </a:r>
          </a:p>
          <a:p>
            <a:r>
              <a:t>"Now let's examine how employees and managers connect to the platform in the first place: our organization join code onboarding architecture."</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13: Organization &amp; Join Code — Frictionless, Controlled Onboarding</a:t>
            </a:r>
          </a:p>
          <a:p/>
          <a:p>
            <a:r>
              <a:t>## SLIDE PURPOSE</a:t>
            </a:r>
          </a:p>
          <a:p>
            <a:r>
              <a:t>Explain ClaimGuard's organization creation and temporary join code pairing model, highlighting the intentional absence of third-party social login dependencies for field staff.</a:t>
            </a:r>
          </a:p>
          <a:p/>
          <a:p>
            <a:r>
              <a:t>## SAY THIS (45s)</a:t>
            </a:r>
          </a:p>
          <a:p>
            <a:r>
              <a:t>"Onboarding distributed field teams presents a unique security and usability challenge. Requiring corporate email addresses, Google logins, or complex passwords for drivers, field technicians, or remote contractors causes massive drop-off and support tickets. ClaimGuard implements a frictionless, cryptographically secure Join Code architecture. A finance manager creates an organization in the dashboard and generates a temporary, 6-character alpha-numeric join code — like 'CG-7842' — with an expiration window and configurable role permissions. The field employee opens the mobile app, enters the code, and their device session is securely provisioned and bound to that organization. The join code is strictly an onboarding handshake, not a permanent password. Once validated, the server establishes a secure device token stored in encrypted local storage."</a:t>
            </a:r>
          </a:p>
          <a:p/>
          <a:p>
            <a:r>
              <a:t>## SIMPLE EXPLANATION</a:t>
            </a:r>
          </a:p>
          <a:p>
            <a:r>
              <a:t>To connect an employee to their company, the manager generates a simple 6-letter join code. The employee types it into their phone once, and their device is immediately and safely linked to the company account. No passwords, no corporate Google logins, and no confusion.</a:t>
            </a:r>
          </a:p>
          <a:p/>
          <a:p>
            <a:r>
              <a:t>## TECHNICAL EXPLANATION</a:t>
            </a:r>
          </a:p>
          <a:p>
            <a:r>
              <a:t>Join codes are hashed with SHA-256 and stored with short TTLs in the `organization_join_codes` table. The endpoint `/api/v1/auth/join` validates the code, decrements usage allowances, creates a row in `organization_memberships`, and issues a scoped JWT access token and refresh token stored via `flutter_secure_storage`.</a:t>
            </a:r>
          </a:p>
          <a:p/>
          <a:p>
            <a:r>
              <a:t>## WHY IT MATTERS</a:t>
            </a:r>
          </a:p>
          <a:p>
            <a:r>
              <a:t>Enterprise rollout speed depends directly on onboarding friction. Organizations can deploy ClaimGuard to hundreds of field personnel in minutes simply by distributing an organization code via WhatsApp or SMS.</a:t>
            </a:r>
          </a:p>
          <a:p/>
          <a:p>
            <a:r>
              <a:t>## IMPORTANT CAVEAT</a:t>
            </a:r>
          </a:p>
          <a:p>
            <a:r>
              <a:t>Join codes expire automatically after a configurable window (typically 15 to 60 minutes) or single use, preventing unauthorized access if a code is forwarded or leaked.</a:t>
            </a:r>
          </a:p>
          <a:p/>
          <a:p>
            <a:r>
              <a:t>## TRANSITION</a:t>
            </a:r>
          </a:p>
          <a:p>
            <a:r>
              <a:t>"Now that we've seen how the entire platform operates from onboarding to approval, what measurable business outcomes does ClaimGuard deliver?"</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14: Expected Outcomes — What ClaimGuard Is Designed to Improve</a:t>
            </a:r>
          </a:p>
          <a:p/>
          <a:p>
            <a:r>
              <a:t>## SLIDE PURPOSE</a:t>
            </a:r>
          </a:p>
          <a:p>
            <a:r>
              <a:t>Present the primary business, operational, and financial outcomes ClaimGuard is designed to achieve, adhering to strict honest positioning without fabricated statistics.</a:t>
            </a:r>
          </a:p>
          <a:p/>
          <a:p>
            <a:r>
              <a:t>## SAY THIS (45s)</a:t>
            </a:r>
          </a:p>
          <a:p>
            <a:r>
              <a:t>"What outcomes is ClaimGuard designed to improve? We focus on four foundational pillars. First: Less Repetitive Manual Verification. By automating data entry, mathematical consistency checks, and tax ID validation, managers spend their time evaluating genuine anomalies rather than squinting at paper bills. Second: Faster Review Cycles. Employees receive reimbursement decisions in days or hours rather than weeks, dramatically improving field workforce satisfaction. Third: Earlier Suspicious Signals. By catching duplicate image submissions, historical spending spikes, and invalid tax numbers instantly, organizations prevent improper payouts before money ever leaves company accounts. And fourth: Centralized Compliance Visibility. Leadership gains complete, auditable oversight across all regional branches and departments from a single pane of glass."</a:t>
            </a:r>
          </a:p>
          <a:p/>
          <a:p>
            <a:r>
              <a:t>## SIMPLE EXPLANATION</a:t>
            </a:r>
          </a:p>
          <a:p>
            <a:r>
              <a:t>ClaimGuard makes expense processing faster, easier, and safer. Employees get reimbursed much quicker, managers spend far less time doing boring data entry, company money is protected against duplicate or fraudulent receipts, and finance leaders always know exactly where money is being spent.</a:t>
            </a:r>
          </a:p>
          <a:p/>
          <a:p>
            <a:r>
              <a:t>## TECHNICAL EXPLANATION</a:t>
            </a:r>
          </a:p>
          <a:p>
            <a:r>
              <a:t>Operational efficiency stems from algorithmic triage: claims categorized as `LOW` risk (which typically comprise 70–80% of normal business expenses) can be bulk-approved in a single transactional batch, freeing manager compute and attention for the minority of `HIGH` and `CRITICAL` risk claims.</a:t>
            </a:r>
          </a:p>
          <a:p/>
          <a:p>
            <a:r>
              <a:t>## WHY IT MATTERS</a:t>
            </a:r>
          </a:p>
          <a:p>
            <a:r>
              <a:t>Every dollar saved on duplicate or ineligible expense reimbursements goes straight to operating margin, while accelerated reimbursement cycles eliminate employee friction.</a:t>
            </a:r>
          </a:p>
          <a:p/>
          <a:p>
            <a:r>
              <a:t>## IMPORTANT CAVEAT</a:t>
            </a:r>
          </a:p>
          <a:p>
            <a:r>
              <a:t>These outcomes represent the deliberate architectural objectives of ClaimGuard. We intentionally avoid fabricated quantitative claims like 'cuts fraud by exactly 94.2%' because real-world savings depend on an organization's specific policy enforcement and review diligence.</a:t>
            </a:r>
          </a:p>
          <a:p/>
          <a:p>
            <a:r>
              <a:t>## TRANSITION</a:t>
            </a:r>
          </a:p>
          <a:p>
            <a:r>
              <a:t>"Finally, let's look at our development roadmap and where ClaimGuard is heading next."</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Slide 15: Future &amp; Closing — From Verification to an Intelligent Workflow</a:t>
            </a:r>
          </a:p>
          <a:p/>
          <a:p>
            <a:r>
              <a:t>## SLIDE PURPOSE</a:t>
            </a:r>
          </a:p>
          <a:p>
            <a:r>
              <a:t>Deliver a compelling strategic close, presenting the phased product roadmap (distinguishing implemented capabilities from planned enterprise integrations) and returning to ClaimGuard's core value proposition.</a:t>
            </a:r>
          </a:p>
          <a:p/>
          <a:p>
            <a:r>
              <a:t>## SAY THIS (50s)</a:t>
            </a:r>
          </a:p>
          <a:p>
            <a:r>
              <a:t>"To close: ClaimGuard is already fundamentally transforming receipt verification from an error-prone manual chore into an evidence-based, risk-prioritized workflow. Looking ahead, our product roadmap expands in five clear phases. Phase 1 is our core receipt verification platform, which is fully operational today. Phase 2 deepens our risk intelligence with rolling 90-day behavioral baselines. Phase 3 introduces organizational analytics and branch benchmark heatmaps. In Phase 4, we will introduce conversational WhatsApp submission as an optional zero-download channel — labeled here as a future integration. And in Phase 5, we will build direct ERP connectors into SAP, Tally, and Zoho Books. In summary: ClaimGuard bridges field submission, cloud document intelligence, deterministic fraud math, and manager decision-making into one unified, auditable platform. From receipt submission to risk-aware decision making — that is ClaimGuard. Thank you, and we look forward to your questions."</a:t>
            </a:r>
          </a:p>
          <a:p/>
          <a:p>
            <a:r>
              <a:t>## SIMPLE EXPLANATION</a:t>
            </a:r>
          </a:p>
          <a:p>
            <a:r>
              <a:t>Today, ClaimGuard gives you complete receipt verification and risk scoring. Tomorrow, we are connecting it directly to WhatsApp and major accounting software like Tally and SAP so that field expenses flow seamlessly straight into your company general ledger.</a:t>
            </a:r>
          </a:p>
          <a:p/>
          <a:p>
            <a:r>
              <a:t>## TECHNICAL EXPLANATION</a:t>
            </a:r>
          </a:p>
          <a:p>
            <a:r>
              <a:t>The roadmap builds upon our channel-agnostic provider architecture. Because the core pipeline communicates via abstract `NotificationChannel` interfaces, adding WhatsApp Business Cloud API webhooks or SAP RFC connectors requires only implementing dedicated adapters without refactoring core fraud or risk scoring engines.</a:t>
            </a:r>
          </a:p>
          <a:p/>
          <a:p>
            <a:r>
              <a:t>## WHY IT MATTERS</a:t>
            </a:r>
          </a:p>
          <a:p>
            <a:r>
              <a:t>Organizations don't want a throwaway point solution. They want an extensible platform that integrates with their existing communication habits and enterprise software ecosystem.</a:t>
            </a:r>
          </a:p>
          <a:p/>
          <a:p>
            <a:r>
              <a:t>## IMPORTANT CAVEAT</a:t>
            </a:r>
          </a:p>
          <a:p>
            <a:r>
              <a:t>We strictly distinguish between active features and future roadmap items. The core Flutter mobile app, Fastify API, Textract OCR, deterministic fraud engine, risk scoring, Bedrock narrative synthesis, and Manager Dashboard are implemented and demonstrated. WhatsApp messaging and direct Tally/SAP sync are planned enterprise additions.</a:t>
            </a:r>
          </a:p>
          <a:p/>
          <a:p>
            <a:r>
              <a:t>## TRANSITION</a:t>
            </a:r>
          </a:p>
          <a:p>
            <a:r>
              <a:t>"Thank you very much. We are now ready to demonstrate the live system or take any technical and product questions."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645920"/>
            <a:ext cx="5943600" cy="4114800"/>
          </a:xfrm>
          <a:prstGeom prst="rect">
            <a:avLst/>
          </a:prstGeom>
          <a:noFill/>
        </p:spPr>
        <p:txBody>
          <a:bodyPr wrap="square">
            <a:spAutoFit/>
          </a:bodyPr>
          <a:lstStyle/>
          <a:p>
            <a:pPr>
              <a:defRPr sz="1200" b="1">
                <a:solidFill>
                  <a:srgbClr val="FDBA74"/>
                </a:solidFill>
              </a:defRPr>
            </a:pPr>
            <a:r>
              <a:t>FINANCIAL VERIFICATION INTELLIGENCE</a:t>
            </a:r>
          </a:p>
          <a:p>
            <a:pPr>
              <a:spcBef>
                <a:spcPts val="1400"/>
              </a:spcBef>
              <a:defRPr sz="4800" b="1">
                <a:solidFill>
                  <a:srgbClr val="FFFFFF"/>
                </a:solidFill>
              </a:defRPr>
            </a:pPr>
            <a:r>
              <a:t>CLAIMGUARD</a:t>
            </a:r>
          </a:p>
          <a:p>
            <a:pPr>
              <a:spcBef>
                <a:spcPts val="1000"/>
              </a:spcBef>
              <a:defRPr sz="2200">
                <a:solidFill>
                  <a:srgbClr val="F97316"/>
                </a:solidFill>
              </a:defRPr>
            </a:pPr>
            <a:r>
              <a:t>Intelligent Expense &amp; Receipt Verification</a:t>
            </a:r>
          </a:p>
          <a:p>
            <a:pPr>
              <a:spcBef>
                <a:spcPts val="1800"/>
              </a:spcBef>
              <a:defRPr sz="1400">
                <a:solidFill>
                  <a:srgbClr val="F8FAFC"/>
                </a:solidFill>
              </a:defRPr>
            </a:pPr>
            <a:r>
              <a:t>From field receipt submission to risk-aware managerial decision making. A unified, deterministic compliance platform for modern distributed organizations.</a:t>
            </a:r>
          </a:p>
        </p:txBody>
      </p:sp>
      <p:pic>
        <p:nvPicPr>
          <p:cNvPr id="4" name="Picture 3" descr="cover-ecosystem.jpg"/>
          <p:cNvPicPr>
            <a:picLocks noChangeAspect="1"/>
          </p:cNvPicPr>
          <p:nvPr/>
        </p:nvPicPr>
        <p:blipFill>
          <a:blip r:embed="rId2"/>
          <a:stretch>
            <a:fillRect/>
          </a:stretch>
        </p:blipFill>
        <p:spPr>
          <a:xfrm>
            <a:off x="6766560" y="1188720"/>
            <a:ext cx="4754880" cy="2653887"/>
          </a:xfrm>
          <a:prstGeom prst="rect">
            <a:avLst/>
          </a:prstGeom>
        </p:spPr>
      </p:pic>
      <p:sp>
        <p:nvSpPr>
          <p:cNvPr id="5" name="TextBox 4"/>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01 OF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THE OPERATIONAL PROBLEM</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Expense verification is still too manual.</a:t>
            </a:r>
          </a:p>
        </p:txBody>
      </p:sp>
      <p:sp>
        <p:nvSpPr>
          <p:cNvPr id="5" name="Rounded Rectangle 4"/>
          <p:cNvSpPr/>
          <p:nvPr/>
        </p:nvSpPr>
        <p:spPr>
          <a:xfrm>
            <a:off x="731520" y="1828800"/>
            <a:ext cx="2468880" cy="41148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900" b="1">
                <a:solidFill>
                  <a:srgbClr val="F97316"/>
                </a:solidFill>
              </a:defRPr>
            </a:pPr>
            <a:r>
              <a:t>UNSTRUCTURED INPUTS</a:t>
            </a:r>
          </a:p>
          <a:p>
            <a:pPr>
              <a:spcBef>
                <a:spcPts val="800"/>
              </a:spcBef>
              <a:defRPr sz="1500" b="1">
                <a:solidFill>
                  <a:srgbClr val="0F172A"/>
                </a:solidFill>
              </a:defRPr>
            </a:pPr>
            <a:r>
              <a:t>1. PAPER &amp; CHAT CHAOS</a:t>
            </a:r>
          </a:p>
          <a:p>
            <a:pPr>
              <a:spcBef>
                <a:spcPts val="1200"/>
              </a:spcBef>
              <a:defRPr sz="1100">
                <a:solidFill>
                  <a:srgbClr val="334155"/>
                </a:solidFill>
              </a:defRPr>
            </a:pPr>
            <a:r>
              <a:t>Field staff collect crumpled paper receipts or forward random photos over WhatsApp threads days or weeks later.</a:t>
            </a:r>
          </a:p>
        </p:txBody>
      </p:sp>
      <p:sp>
        <p:nvSpPr>
          <p:cNvPr id="6" name="Rounded Rectangle 5"/>
          <p:cNvSpPr/>
          <p:nvPr/>
        </p:nvSpPr>
        <p:spPr>
          <a:xfrm>
            <a:off x="3429000" y="1828800"/>
            <a:ext cx="2468880" cy="41148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900" b="1">
                <a:solidFill>
                  <a:srgbClr val="F97316"/>
                </a:solidFill>
              </a:defRPr>
            </a:pPr>
            <a:r>
              <a:t>HIGH ADMINISTRATIVE COST</a:t>
            </a:r>
          </a:p>
          <a:p>
            <a:pPr>
              <a:spcBef>
                <a:spcPts val="800"/>
              </a:spcBef>
              <a:defRPr sz="1500" b="1">
                <a:solidFill>
                  <a:srgbClr val="0F172A"/>
                </a:solidFill>
              </a:defRPr>
            </a:pPr>
            <a:r>
              <a:t>2. MANUAL DATA ENTRY</a:t>
            </a:r>
          </a:p>
          <a:p>
            <a:pPr>
              <a:spcBef>
                <a:spcPts val="1200"/>
              </a:spcBef>
              <a:defRPr sz="1100">
                <a:solidFill>
                  <a:srgbClr val="334155"/>
                </a:solidFill>
              </a:defRPr>
            </a:pPr>
            <a:r>
              <a:t>Finance managers manually re-type amounts, vendors, and dates into spreadsheets, struggling with faded ink.</a:t>
            </a:r>
          </a:p>
        </p:txBody>
      </p:sp>
      <p:sp>
        <p:nvSpPr>
          <p:cNvPr id="7" name="Rounded Rectangle 6"/>
          <p:cNvSpPr/>
          <p:nvPr/>
        </p:nvSpPr>
        <p:spPr>
          <a:xfrm>
            <a:off x="6126480" y="1828800"/>
            <a:ext cx="2468880" cy="41148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900" b="1">
                <a:solidFill>
                  <a:srgbClr val="F97316"/>
                </a:solidFill>
              </a:defRPr>
            </a:pPr>
            <a:r>
              <a:t>SILENT POLICY LEAKAGE</a:t>
            </a:r>
          </a:p>
          <a:p>
            <a:pPr>
              <a:spcBef>
                <a:spcPts val="800"/>
              </a:spcBef>
              <a:defRPr sz="1500" b="1">
                <a:solidFill>
                  <a:srgbClr val="0F172A"/>
                </a:solidFill>
              </a:defRPr>
            </a:pPr>
            <a:r>
              <a:t>3. UNSPOTTED DUPLICATES</a:t>
            </a:r>
          </a:p>
          <a:p>
            <a:pPr>
              <a:spcBef>
                <a:spcPts val="1200"/>
              </a:spcBef>
              <a:defRPr sz="1100">
                <a:solidFill>
                  <a:srgbClr val="334155"/>
                </a:solidFill>
              </a:defRPr>
            </a:pPr>
            <a:r>
              <a:t>Humans cannot reliably detect whether the same receipt was already submitted 3 weeks ago or edited.</a:t>
            </a:r>
          </a:p>
        </p:txBody>
      </p:sp>
      <p:sp>
        <p:nvSpPr>
          <p:cNvPr id="8" name="Rounded Rectangle 7"/>
          <p:cNvSpPr/>
          <p:nvPr/>
        </p:nvSpPr>
        <p:spPr>
          <a:xfrm>
            <a:off x="8823960" y="1828800"/>
            <a:ext cx="2468880" cy="411480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274320"/>
          <a:lstStyle/>
          <a:p>
            <a:pPr algn="ctr">
              <a:defRPr sz="900" b="1">
                <a:solidFill>
                  <a:srgbClr val="F97316"/>
                </a:solidFill>
              </a:defRPr>
            </a:pPr>
            <a:r>
              <a:t>COMPLIANCE RISK</a:t>
            </a:r>
          </a:p>
          <a:p>
            <a:pPr>
              <a:spcBef>
                <a:spcPts val="800"/>
              </a:spcBef>
              <a:defRPr sz="1500" b="1">
                <a:solidFill>
                  <a:srgbClr val="0F172A"/>
                </a:solidFill>
              </a:defRPr>
            </a:pPr>
            <a:r>
              <a:t>4. LOST TAX CREDITS</a:t>
            </a:r>
          </a:p>
          <a:p>
            <a:pPr>
              <a:spcBef>
                <a:spcPts val="1200"/>
              </a:spcBef>
              <a:defRPr sz="1100">
                <a:solidFill>
                  <a:srgbClr val="334155"/>
                </a:solidFill>
              </a:defRPr>
            </a:pPr>
            <a:r>
              <a:t>Ineligible GST claims and missing or invalid 15-digit GSTINs lead to lost Input Tax Credit (ITC) on audits.</a:t>
            </a:r>
          </a:p>
        </p:txBody>
      </p:sp>
      <p:sp>
        <p:nvSpPr>
          <p:cNvPr id="9" name="TextBox 8"/>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02 OF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DBA74"/>
                </a:solidFill>
                <a:latin typeface="Plus Jakarta Sans"/>
              </a:defRPr>
            </a:pPr>
            <a:r>
              <a:t>PRODUCT THESIS</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FFFFFF"/>
                </a:solidFill>
                <a:latin typeface="Plus Jakarta Sans"/>
              </a:defRPr>
            </a:pPr>
            <a:r>
              <a:t>What if every receipt could be screened before manual review?</a:t>
            </a:r>
          </a:p>
        </p:txBody>
      </p:sp>
      <p:sp>
        <p:nvSpPr>
          <p:cNvPr id="5" name="Rectangle 4"/>
          <p:cNvSpPr/>
          <p:nvPr/>
        </p:nvSpPr>
        <p:spPr>
          <a:xfrm>
            <a:off x="731520" y="1828800"/>
            <a:ext cx="5120640" cy="411480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64748B"/>
                </a:solidFill>
              </a:defRPr>
            </a:pPr>
            <a:r>
              <a:t>THE TRADITIONAL PARADIGM</a:t>
            </a:r>
          </a:p>
          <a:p>
            <a:pPr>
              <a:spcBef>
                <a:spcPts val="1400"/>
              </a:spcBef>
              <a:defRPr sz="1200">
                <a:solidFill>
                  <a:srgbClr val="F8FAFC"/>
                </a:solidFill>
              </a:defRPr>
            </a:pPr>
            <a:r>
              <a:t>X  Employee submits crumpled paper / raw photo</a:t>
            </a:r>
          </a:p>
          <a:p>
            <a:pPr>
              <a:spcBef>
                <a:spcPts val="1400"/>
              </a:spcBef>
              <a:defRPr sz="1200">
                <a:solidFill>
                  <a:srgbClr val="F8FAFC"/>
                </a:solidFill>
              </a:defRPr>
            </a:pPr>
            <a:r>
              <a:t>X  Piles up in finance inbox for weeks</a:t>
            </a:r>
          </a:p>
          <a:p>
            <a:pPr>
              <a:spcBef>
                <a:spcPts val="1400"/>
              </a:spcBef>
              <a:defRPr sz="1200">
                <a:solidFill>
                  <a:srgbClr val="F8FAFC"/>
                </a:solidFill>
              </a:defRPr>
            </a:pPr>
            <a:r>
              <a:t>X  Manager spends 10 minutes manually verifying math</a:t>
            </a:r>
          </a:p>
          <a:p>
            <a:pPr>
              <a:spcBef>
                <a:spcPts val="1400"/>
              </a:spcBef>
              <a:defRPr sz="1200">
                <a:solidFill>
                  <a:srgbClr val="F8FAFC"/>
                </a:solidFill>
              </a:defRPr>
            </a:pPr>
            <a:r>
              <a:t>X  Duplicate payouts and compliance errors slip through</a:t>
            </a:r>
          </a:p>
        </p:txBody>
      </p:sp>
      <p:sp>
        <p:nvSpPr>
          <p:cNvPr id="6" name="Rectangle 5"/>
          <p:cNvSpPr/>
          <p:nvPr/>
        </p:nvSpPr>
        <p:spPr>
          <a:xfrm>
            <a:off x="6217920" y="1828800"/>
            <a:ext cx="5212080" cy="4114800"/>
          </a:xfrm>
          <a:prstGeom prst="rect">
            <a:avLst/>
          </a:prstGeom>
          <a:solidFill>
            <a:srgbClr val="1E293B"/>
          </a:solidFill>
          <a:ln w="254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F97316"/>
                </a:solidFill>
              </a:defRPr>
            </a:pPr>
            <a:r>
              <a:t>THE CLAIMGUARD PARADIGM</a:t>
            </a:r>
          </a:p>
          <a:p>
            <a:pPr>
              <a:spcBef>
                <a:spcPts val="1000"/>
              </a:spcBef>
              <a:defRPr sz="1200" b="1">
                <a:solidFill>
                  <a:srgbClr val="FFFFFF"/>
                </a:solidFill>
              </a:defRPr>
            </a:pPr>
            <a:r>
              <a:t>-&gt;  Employee captures instant photo via Flutter mobile</a:t>
            </a:r>
          </a:p>
          <a:p>
            <a:pPr>
              <a:spcBef>
                <a:spcPts val="1000"/>
              </a:spcBef>
              <a:defRPr sz="1200" b="1">
                <a:solidFill>
                  <a:srgbClr val="FFFFFF"/>
                </a:solidFill>
              </a:defRPr>
            </a:pPr>
            <a:r>
              <a:t>-&gt;  Instant AWS Textract extraction &amp; normalizer</a:t>
            </a:r>
          </a:p>
          <a:p>
            <a:pPr>
              <a:spcBef>
                <a:spcPts val="1000"/>
              </a:spcBef>
              <a:defRPr sz="1200" b="1">
                <a:solidFill>
                  <a:srgbClr val="FFFFFF"/>
                </a:solidFill>
              </a:defRPr>
            </a:pPr>
            <a:r>
              <a:t>-&gt;  Deterministic fraud checks (Hash, GSTIN, Anomaly)</a:t>
            </a:r>
          </a:p>
          <a:p>
            <a:pPr>
              <a:spcBef>
                <a:spcPts val="1000"/>
              </a:spcBef>
              <a:defRPr sz="1200" b="1">
                <a:solidFill>
                  <a:srgbClr val="FFFFFF"/>
                </a:solidFill>
              </a:defRPr>
            </a:pPr>
            <a:r>
              <a:t>-&gt;  Compounded 0-100 risk score &amp; Bedrock explanation</a:t>
            </a:r>
          </a:p>
          <a:p>
            <a:pPr>
              <a:spcBef>
                <a:spcPts val="1000"/>
              </a:spcBef>
              <a:defRPr sz="1200" b="1">
                <a:solidFill>
                  <a:srgbClr val="FFFFFF"/>
                </a:solidFill>
              </a:defRPr>
            </a:pPr>
            <a:r>
              <a:t>-&gt;  Manager receives decision-ready evidence in seconds</a:t>
            </a:r>
          </a:p>
        </p:txBody>
      </p:sp>
      <p:sp>
        <p:nvSpPr>
          <p:cNvPr id="7" name="TextBox 6"/>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03 OF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END-TO-END ARCHITECTURE</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One workflow. Multiple verification layers.</a:t>
            </a:r>
          </a:p>
        </p:txBody>
      </p:sp>
      <p:sp>
        <p:nvSpPr>
          <p:cNvPr id="5" name="Rounded Rectangle 4"/>
          <p:cNvSpPr/>
          <p:nvPr/>
        </p:nvSpPr>
        <p:spPr>
          <a:xfrm>
            <a:off x="731520" y="1828800"/>
            <a:ext cx="2514600" cy="19202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97316"/>
                </a:solidFill>
              </a:defRPr>
            </a:pPr>
            <a:r>
              <a:t>1. CAPTURE</a:t>
            </a:r>
          </a:p>
          <a:p>
            <a:pPr>
              <a:spcBef>
                <a:spcPts val="600"/>
              </a:spcBef>
              <a:defRPr sz="1000">
                <a:solidFill>
                  <a:srgbClr val="334155"/>
                </a:solidFill>
              </a:defRPr>
            </a:pPr>
            <a:r>
              <a:t>Mobile Flutter app captures receipt image with alignment guidance.</a:t>
            </a:r>
          </a:p>
        </p:txBody>
      </p:sp>
      <p:sp>
        <p:nvSpPr>
          <p:cNvPr id="6" name="Rounded Rectangle 5"/>
          <p:cNvSpPr/>
          <p:nvPr/>
        </p:nvSpPr>
        <p:spPr>
          <a:xfrm>
            <a:off x="3429000" y="1828800"/>
            <a:ext cx="2514600" cy="19202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97316"/>
                </a:solidFill>
              </a:defRPr>
            </a:pPr>
            <a:r>
              <a:t>2. EXTRACT</a:t>
            </a:r>
          </a:p>
          <a:p>
            <a:pPr>
              <a:spcBef>
                <a:spcPts val="600"/>
              </a:spcBef>
              <a:defRPr sz="1000">
                <a:solidFill>
                  <a:srgbClr val="334155"/>
                </a:solidFill>
              </a:defRPr>
            </a:pPr>
            <a:r>
              <a:t>AWS Textract extracts vendor, date, total, GSTIN &amp; line items.</a:t>
            </a:r>
          </a:p>
        </p:txBody>
      </p:sp>
      <p:sp>
        <p:nvSpPr>
          <p:cNvPr id="7" name="Rounded Rectangle 6"/>
          <p:cNvSpPr/>
          <p:nvPr/>
        </p:nvSpPr>
        <p:spPr>
          <a:xfrm>
            <a:off x="6126480" y="1828800"/>
            <a:ext cx="2514600" cy="19202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97316"/>
                </a:solidFill>
              </a:defRPr>
            </a:pPr>
            <a:r>
              <a:t>3. VALIDATE</a:t>
            </a:r>
          </a:p>
          <a:p>
            <a:pPr>
              <a:spcBef>
                <a:spcPts val="600"/>
              </a:spcBef>
              <a:defRPr sz="1000">
                <a:solidFill>
                  <a:srgbClr val="334155"/>
                </a:solidFill>
              </a:defRPr>
            </a:pPr>
            <a:r>
              <a:t>Deterministic validation tests date boundaries and math.</a:t>
            </a:r>
          </a:p>
        </p:txBody>
      </p:sp>
      <p:sp>
        <p:nvSpPr>
          <p:cNvPr id="8" name="Rounded Rectangle 7"/>
          <p:cNvSpPr/>
          <p:nvPr/>
        </p:nvSpPr>
        <p:spPr>
          <a:xfrm>
            <a:off x="8823960" y="1828800"/>
            <a:ext cx="2514600" cy="19202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97316"/>
                </a:solidFill>
              </a:defRPr>
            </a:pPr>
            <a:r>
              <a:t>4. DETECT</a:t>
            </a:r>
          </a:p>
          <a:p>
            <a:pPr>
              <a:spcBef>
                <a:spcPts val="600"/>
              </a:spcBef>
              <a:defRPr sz="1000">
                <a:solidFill>
                  <a:srgbClr val="334155"/>
                </a:solidFill>
              </a:defRPr>
            </a:pPr>
            <a:r>
              <a:t>Perceptual hashing &amp; anomaly baselines detect fraud signals.</a:t>
            </a:r>
          </a:p>
        </p:txBody>
      </p:sp>
      <p:sp>
        <p:nvSpPr>
          <p:cNvPr id="9" name="Rounded Rectangle 8"/>
          <p:cNvSpPr/>
          <p:nvPr/>
        </p:nvSpPr>
        <p:spPr>
          <a:xfrm>
            <a:off x="1188720" y="4023360"/>
            <a:ext cx="2926080" cy="19202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97316"/>
                </a:solidFill>
              </a:defRPr>
            </a:pPr>
            <a:r>
              <a:t>5. ASSESS</a:t>
            </a:r>
          </a:p>
          <a:p>
            <a:pPr>
              <a:spcBef>
                <a:spcPts val="600"/>
              </a:spcBef>
              <a:defRPr sz="1000">
                <a:solidFill>
                  <a:srgbClr val="334155"/>
                </a:solidFill>
              </a:defRPr>
            </a:pPr>
            <a:r>
              <a:t>Deterministic 0-100 scoring derives verified authenticity state.</a:t>
            </a:r>
          </a:p>
        </p:txBody>
      </p:sp>
      <p:sp>
        <p:nvSpPr>
          <p:cNvPr id="10" name="Rounded Rectangle 9"/>
          <p:cNvSpPr/>
          <p:nvPr/>
        </p:nvSpPr>
        <p:spPr>
          <a:xfrm>
            <a:off x="4572000" y="4023360"/>
            <a:ext cx="2926080" cy="19202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97316"/>
                </a:solidFill>
              </a:defRPr>
            </a:pPr>
            <a:r>
              <a:t>6. REVIEW</a:t>
            </a:r>
          </a:p>
          <a:p>
            <a:pPr>
              <a:spcBef>
                <a:spcPts val="600"/>
              </a:spcBef>
              <a:defRPr sz="1000">
                <a:solidFill>
                  <a:srgbClr val="334155"/>
                </a:solidFill>
              </a:defRPr>
            </a:pPr>
            <a:r>
              <a:t>Manager reviews evidence side-by-side in operations cockpit.</a:t>
            </a:r>
          </a:p>
        </p:txBody>
      </p:sp>
      <p:sp>
        <p:nvSpPr>
          <p:cNvPr id="11" name="Rounded Rectangle 10"/>
          <p:cNvSpPr/>
          <p:nvPr/>
        </p:nvSpPr>
        <p:spPr>
          <a:xfrm>
            <a:off x="7955279" y="4023360"/>
            <a:ext cx="2926080" cy="192024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300" b="1">
                <a:solidFill>
                  <a:srgbClr val="F97316"/>
                </a:solidFill>
              </a:defRPr>
            </a:pPr>
            <a:r>
              <a:t>7. AUDIT</a:t>
            </a:r>
          </a:p>
          <a:p>
            <a:pPr>
              <a:spcBef>
                <a:spcPts val="600"/>
              </a:spcBef>
              <a:defRPr sz="1000">
                <a:solidFill>
                  <a:srgbClr val="334155"/>
                </a:solidFill>
              </a:defRPr>
            </a:pPr>
            <a:r>
              <a:t>Append-only immutable audit trail records actor, action &amp; timestamp.</a:t>
            </a:r>
          </a:p>
        </p:txBody>
      </p:sp>
      <p:sp>
        <p:nvSpPr>
          <p:cNvPr id="12" name="TextBox 11"/>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04 OF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FIELD MOBILITY</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For employees, submitting a claim becomes simple.</a:t>
            </a:r>
          </a:p>
        </p:txBody>
      </p:sp>
      <p:sp>
        <p:nvSpPr>
          <p:cNvPr id="5" name="TextBox 4"/>
          <p:cNvSpPr txBox="1"/>
          <p:nvPr/>
        </p:nvSpPr>
        <p:spPr>
          <a:xfrm>
            <a:off x="731520" y="1645920"/>
            <a:ext cx="5486400" cy="4389120"/>
          </a:xfrm>
          <a:prstGeom prst="rect">
            <a:avLst/>
          </a:prstGeom>
          <a:noFill/>
        </p:spPr>
        <p:txBody>
          <a:bodyPr wrap="square">
            <a:spAutoFit/>
          </a:bodyPr>
          <a:lstStyle/>
          <a:p>
            <a:pPr>
              <a:defRPr sz="1300" b="1">
                <a:solidFill>
                  <a:srgbClr val="0F172A"/>
                </a:solidFill>
              </a:defRPr>
            </a:pPr>
            <a:r>
              <a:t>Cross-Platform Flutter Native</a:t>
            </a:r>
          </a:p>
          <a:p>
            <a:pPr>
              <a:spcBef>
                <a:spcPts val="200"/>
              </a:spcBef>
              <a:defRPr sz="1050">
                <a:solidFill>
                  <a:srgbClr val="334155"/>
                </a:solidFill>
              </a:defRPr>
            </a:pPr>
            <a:r>
              <a:t>Fast, responsive mobile experience optimized for field reps and technicians on Android &amp; iOS.</a:t>
            </a:r>
          </a:p>
          <a:p>
            <a:pPr>
              <a:spcBef>
                <a:spcPts val="1000"/>
              </a:spcBef>
              <a:defRPr sz="1300" b="1">
                <a:solidFill>
                  <a:srgbClr val="0F172A"/>
                </a:solidFill>
              </a:defRPr>
            </a:pPr>
            <a:r>
              <a:t>One-Tap Camera Capture</a:t>
            </a:r>
          </a:p>
          <a:p>
            <a:pPr>
              <a:spcBef>
                <a:spcPts val="200"/>
              </a:spcBef>
              <a:defRPr sz="1050">
                <a:solidFill>
                  <a:srgbClr val="334155"/>
                </a:solidFill>
              </a:defRPr>
            </a:pPr>
            <a:r>
              <a:t>Receipt scanner viewfinder with real-time framing and image stabilization.</a:t>
            </a:r>
          </a:p>
          <a:p>
            <a:pPr>
              <a:spcBef>
                <a:spcPts val="1000"/>
              </a:spcBef>
              <a:defRPr sz="1300" b="1">
                <a:solidFill>
                  <a:srgbClr val="0F172A"/>
                </a:solidFill>
              </a:defRPr>
            </a:pPr>
            <a:r>
              <a:t>Inline Extraction Review</a:t>
            </a:r>
          </a:p>
          <a:p>
            <a:pPr>
              <a:spcBef>
                <a:spcPts val="200"/>
              </a:spcBef>
              <a:defRPr sz="1050">
                <a:solidFill>
                  <a:srgbClr val="334155"/>
                </a:solidFill>
              </a:defRPr>
            </a:pPr>
            <a:r>
              <a:t>Instant preview card displaying extracted vendor, date, amount, and category for rapid verification.</a:t>
            </a:r>
          </a:p>
          <a:p>
            <a:pPr>
              <a:spcBef>
                <a:spcPts val="1000"/>
              </a:spcBef>
              <a:defRPr sz="1300" b="1">
                <a:solidFill>
                  <a:srgbClr val="0F172A"/>
                </a:solidFill>
              </a:defRPr>
            </a:pPr>
            <a:r>
              <a:t>Zero Cloud Jargon</a:t>
            </a:r>
          </a:p>
          <a:p>
            <a:pPr>
              <a:spcBef>
                <a:spcPts val="200"/>
              </a:spcBef>
              <a:defRPr sz="1050">
                <a:solidFill>
                  <a:srgbClr val="334155"/>
                </a:solidFill>
              </a:defRPr>
            </a:pPr>
            <a:r>
              <a:t>Employees see only their claim progress. All OCR, risk scoring, and cloud services remain invisible.</a:t>
            </a:r>
          </a:p>
          <a:p>
            <a:pPr>
              <a:spcBef>
                <a:spcPts val="1000"/>
              </a:spcBef>
              <a:defRPr sz="1300" b="1">
                <a:solidFill>
                  <a:srgbClr val="0F172A"/>
                </a:solidFill>
              </a:defRPr>
            </a:pPr>
            <a:r>
              <a:t>Live Status Tracking</a:t>
            </a:r>
          </a:p>
          <a:p>
            <a:pPr>
              <a:spcBef>
                <a:spcPts val="200"/>
              </a:spcBef>
              <a:defRPr sz="1050">
                <a:solidFill>
                  <a:srgbClr val="334155"/>
                </a:solidFill>
              </a:defRPr>
            </a:pPr>
            <a:r>
              <a:t>Instant push cards notify field staff the moment a claim is verified, reviewed, or approved.</a:t>
            </a:r>
          </a:p>
        </p:txBody>
      </p:sp>
      <p:pic>
        <p:nvPicPr>
          <p:cNvPr id="6" name="Picture 5" descr="employee-mobile.jpg"/>
          <p:cNvPicPr>
            <a:picLocks noChangeAspect="1"/>
          </p:cNvPicPr>
          <p:nvPr/>
        </p:nvPicPr>
        <p:blipFill>
          <a:blip r:embed="rId2"/>
          <a:stretch>
            <a:fillRect/>
          </a:stretch>
        </p:blipFill>
        <p:spPr>
          <a:xfrm>
            <a:off x="6583680" y="1645920"/>
            <a:ext cx="4846320" cy="2704923"/>
          </a:xfrm>
          <a:prstGeom prst="rect">
            <a:avLst/>
          </a:prstGeom>
        </p:spPr>
      </p:pic>
      <p:sp>
        <p:nvSpPr>
          <p:cNvPr id="7" name="TextBox 6"/>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05 OF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OPERATIONS COCKPIT</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Managers see the entire picture.</a:t>
            </a:r>
          </a:p>
        </p:txBody>
      </p:sp>
      <p:pic>
        <p:nvPicPr>
          <p:cNvPr id="5" name="Picture 4" descr="manager-dashboard.jpg"/>
          <p:cNvPicPr>
            <a:picLocks noChangeAspect="1"/>
          </p:cNvPicPr>
          <p:nvPr/>
        </p:nvPicPr>
        <p:blipFill>
          <a:blip r:embed="rId2"/>
          <a:stretch>
            <a:fillRect/>
          </a:stretch>
        </p:blipFill>
        <p:spPr>
          <a:xfrm>
            <a:off x="731520" y="1645920"/>
            <a:ext cx="5486400" cy="3062177"/>
          </a:xfrm>
          <a:prstGeom prst="rect">
            <a:avLst/>
          </a:prstGeom>
        </p:spPr>
      </p:pic>
      <p:sp>
        <p:nvSpPr>
          <p:cNvPr id="6" name="TextBox 5"/>
          <p:cNvSpPr txBox="1"/>
          <p:nvPr/>
        </p:nvSpPr>
        <p:spPr>
          <a:xfrm>
            <a:off x="6492240" y="1645920"/>
            <a:ext cx="4937760" cy="4389120"/>
          </a:xfrm>
          <a:prstGeom prst="rect">
            <a:avLst/>
          </a:prstGeom>
          <a:noFill/>
        </p:spPr>
        <p:txBody>
          <a:bodyPr wrap="square">
            <a:spAutoFit/>
          </a:bodyPr>
          <a:lstStyle/>
          <a:p>
            <a:pPr>
              <a:defRPr sz="1300" b="1">
                <a:solidFill>
                  <a:srgbClr val="0F172A"/>
                </a:solidFill>
              </a:defRPr>
            </a:pPr>
            <a:r>
              <a:t>Split-Screen Verification View</a:t>
            </a:r>
          </a:p>
          <a:p>
            <a:pPr>
              <a:spcBef>
                <a:spcPts val="200"/>
              </a:spcBef>
              <a:defRPr sz="1050">
                <a:solidFill>
                  <a:srgbClr val="334155"/>
                </a:solidFill>
              </a:defRPr>
            </a:pPr>
            <a:r>
              <a:t>Original high-res receipt on the left; structured extracted values and tax identifiers on the right.</a:t>
            </a:r>
          </a:p>
          <a:p>
            <a:pPr>
              <a:spcBef>
                <a:spcPts val="1000"/>
              </a:spcBef>
              <a:defRPr sz="1300" b="1">
                <a:solidFill>
                  <a:srgbClr val="0F172A"/>
                </a:solidFill>
              </a:defRPr>
            </a:pPr>
            <a:r>
              <a:t>Prioritized Risk Triage</a:t>
            </a:r>
          </a:p>
          <a:p>
            <a:pPr>
              <a:spcBef>
                <a:spcPts val="200"/>
              </a:spcBef>
              <a:defRPr sz="1050">
                <a:solidFill>
                  <a:srgbClr val="334155"/>
                </a:solidFill>
              </a:defRPr>
            </a:pPr>
            <a:r>
              <a:t>Queue dynamically filtered by risk: Low (batch approve), Medium, High, or Critical.</a:t>
            </a:r>
          </a:p>
          <a:p>
            <a:pPr>
              <a:spcBef>
                <a:spcPts val="1000"/>
              </a:spcBef>
              <a:defRPr sz="1300" b="1">
                <a:solidFill>
                  <a:srgbClr val="0F172A"/>
                </a:solidFill>
              </a:defRPr>
            </a:pPr>
            <a:r>
              <a:t>Evidence-Backed Indicators</a:t>
            </a:r>
          </a:p>
          <a:p>
            <a:pPr>
              <a:spcBef>
                <a:spcPts val="200"/>
              </a:spcBef>
              <a:defRPr sz="1050">
                <a:solidFill>
                  <a:srgbClr val="334155"/>
                </a:solidFill>
              </a:defRPr>
            </a:pPr>
            <a:r>
              <a:t>Hoverable duplicate hash comparisons, historical spending baselines, and GSTIN check logs.</a:t>
            </a:r>
          </a:p>
          <a:p>
            <a:pPr>
              <a:spcBef>
                <a:spcPts val="1000"/>
              </a:spcBef>
              <a:defRPr sz="1300" b="1">
                <a:solidFill>
                  <a:srgbClr val="0F172A"/>
                </a:solidFill>
              </a:defRPr>
            </a:pPr>
            <a:r>
              <a:t>Explainable AI Summaries</a:t>
            </a:r>
          </a:p>
          <a:p>
            <a:pPr>
              <a:spcBef>
                <a:spcPts val="200"/>
              </a:spcBef>
              <a:defRPr sz="1050">
                <a:solidFill>
                  <a:srgbClr val="334155"/>
                </a:solidFill>
              </a:defRPr>
            </a:pPr>
            <a:r>
              <a:t>Claude 3.5 synthesis on AWS Bedrock summarizes key flags into two actionable sentences.</a:t>
            </a:r>
          </a:p>
          <a:p>
            <a:pPr>
              <a:spcBef>
                <a:spcPts val="1000"/>
              </a:spcBef>
              <a:defRPr sz="1300" b="1">
                <a:solidFill>
                  <a:srgbClr val="0F172A"/>
                </a:solidFill>
              </a:defRPr>
            </a:pPr>
            <a:r>
              <a:t>One-Click Actions with Audit</a:t>
            </a:r>
          </a:p>
          <a:p>
            <a:pPr>
              <a:spcBef>
                <a:spcPts val="200"/>
              </a:spcBef>
              <a:defRPr sz="1050">
                <a:solidFill>
                  <a:srgbClr val="334155"/>
                </a:solidFill>
              </a:defRPr>
            </a:pPr>
            <a:r>
              <a:t>Approve, Reject, or Request Clarification with mandatory compliance notes recorded in Supabase.</a:t>
            </a:r>
          </a:p>
        </p:txBody>
      </p:sp>
      <p:sp>
        <p:nvSpPr>
          <p:cNvPr id="7" name="TextBox 6"/>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06 OF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DBA74"/>
                </a:solidFill>
                <a:latin typeface="Plus Jakarta Sans"/>
              </a:defRPr>
            </a:pPr>
            <a:r>
              <a:t>DOCUMENT INTELLIGENCE</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FFFFFF"/>
                </a:solidFill>
                <a:latin typeface="Plus Jakarta Sans"/>
              </a:defRPr>
            </a:pPr>
            <a:r>
              <a:t>From image to structured information.</a:t>
            </a:r>
          </a:p>
        </p:txBody>
      </p:sp>
      <p:pic>
        <p:nvPicPr>
          <p:cNvPr id="5" name="Picture 4" descr="ocr-extraction.jpg"/>
          <p:cNvPicPr>
            <a:picLocks noChangeAspect="1"/>
          </p:cNvPicPr>
          <p:nvPr/>
        </p:nvPicPr>
        <p:blipFill>
          <a:blip r:embed="rId2"/>
          <a:stretch>
            <a:fillRect/>
          </a:stretch>
        </p:blipFill>
        <p:spPr>
          <a:xfrm>
            <a:off x="731520" y="1645920"/>
            <a:ext cx="5486400" cy="3062177"/>
          </a:xfrm>
          <a:prstGeom prst="rect">
            <a:avLst/>
          </a:prstGeom>
        </p:spPr>
      </p:pic>
      <p:sp>
        <p:nvSpPr>
          <p:cNvPr id="6" name="Rectangle 5"/>
          <p:cNvSpPr/>
          <p:nvPr/>
        </p:nvSpPr>
        <p:spPr>
          <a:xfrm>
            <a:off x="6492240" y="1645920"/>
            <a:ext cx="4937760" cy="438912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300" b="1">
                <a:solidFill>
                  <a:srgbClr val="FDBA74"/>
                </a:solidFill>
              </a:defRPr>
            </a:pPr>
            <a:r>
              <a:t>WHAT OCR DOES</a:t>
            </a:r>
          </a:p>
          <a:p>
            <a:pPr>
              <a:spcBef>
                <a:spcPts val="600"/>
              </a:spcBef>
              <a:defRPr sz="1100">
                <a:solidFill>
                  <a:srgbClr val="F8FAFC"/>
                </a:solidFill>
              </a:defRPr>
            </a:pPr>
            <a:r>
              <a:t>AWS Textract AnalyzeExpense parses geometric bounding boxes, summary key-values, and line items. Extracts Merchant Name, Total Amount, Date, and 15-character Indian GSTIN with individual confidence scores.</a:t>
            </a:r>
          </a:p>
          <a:p>
            <a:pPr>
              <a:spcBef>
                <a:spcPts val="1600"/>
              </a:spcBef>
              <a:defRPr sz="1300" b="1">
                <a:solidFill>
                  <a:srgbClr val="F97316"/>
                </a:solidFill>
              </a:defRPr>
            </a:pPr>
            <a:r>
              <a:t>THE FUNDAMENTAL PRINCIPLE</a:t>
            </a:r>
          </a:p>
          <a:p>
            <a:pPr>
              <a:spcBef>
                <a:spcPts val="600"/>
              </a:spcBef>
              <a:defRPr sz="1100">
                <a:solidFill>
                  <a:srgbClr val="FFFFFF"/>
                </a:solidFill>
              </a:defRPr>
            </a:pPr>
            <a:r>
              <a:t>OCR asks: 'What does this receipt say?'</a:t>
            </a:r>
            <a:br/>
            <a:r>
              <a:t>OCR does NOT ask: 'Is this receipt authentic?'</a:t>
            </a:r>
            <a:br/>
            <a:br/>
            <a:r>
              <a:t>A completely fake, fabricated invoice printed on paper will extract with 100% OCR confidence. That is why OCR is only step one.</a:t>
            </a:r>
          </a:p>
        </p:txBody>
      </p:sp>
      <p:sp>
        <p:nvSpPr>
          <p:cNvPr id="7" name="TextBox 6"/>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07 OF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DETERMINISTIC MATH ENGINE</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OCR is only the beginning: 6 verification signals.</a:t>
            </a:r>
          </a:p>
        </p:txBody>
      </p:sp>
      <p:sp>
        <p:nvSpPr>
          <p:cNvPr id="5" name="Rounded Rectangle 4"/>
          <p:cNvSpPr/>
          <p:nvPr/>
        </p:nvSpPr>
        <p:spPr>
          <a:xfrm>
            <a:off x="731520" y="1737360"/>
            <a:ext cx="3383280" cy="2011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DC2626"/>
                </a:solidFill>
              </a:defRPr>
            </a:pPr>
            <a:r>
              <a:t>+40 PTS</a:t>
            </a:r>
          </a:p>
          <a:p>
            <a:pPr>
              <a:spcBef>
                <a:spcPts val="400"/>
              </a:spcBef>
              <a:defRPr sz="1300" b="1">
                <a:solidFill>
                  <a:srgbClr val="0F172A"/>
                </a:solidFill>
              </a:defRPr>
            </a:pPr>
            <a:r>
              <a:t>Perceptual Duplicate Hash</a:t>
            </a:r>
          </a:p>
          <a:p>
            <a:pPr>
              <a:spcBef>
                <a:spcPts val="600"/>
              </a:spcBef>
              <a:defRPr sz="1000">
                <a:solidFill>
                  <a:srgbClr val="334155"/>
                </a:solidFill>
              </a:defRPr>
            </a:pPr>
            <a:r>
              <a:t>Hamming distance &lt;= 5 flags exact or cropped duplicate receipts.</a:t>
            </a:r>
          </a:p>
        </p:txBody>
      </p:sp>
      <p:sp>
        <p:nvSpPr>
          <p:cNvPr id="6" name="Rounded Rectangle 5"/>
          <p:cNvSpPr/>
          <p:nvPr/>
        </p:nvSpPr>
        <p:spPr>
          <a:xfrm>
            <a:off x="4389120" y="1737360"/>
            <a:ext cx="3383280" cy="2011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D97706"/>
                </a:solidFill>
              </a:defRPr>
            </a:pPr>
            <a:r>
              <a:t>+25 PTS</a:t>
            </a:r>
          </a:p>
          <a:p>
            <a:pPr>
              <a:spcBef>
                <a:spcPts val="400"/>
              </a:spcBef>
              <a:defRPr sz="1300" b="1">
                <a:solidFill>
                  <a:srgbClr val="0F172A"/>
                </a:solidFill>
              </a:defRPr>
            </a:pPr>
            <a:r>
              <a:t>Indian GSTIN Checksum</a:t>
            </a:r>
          </a:p>
          <a:p>
            <a:pPr>
              <a:spcBef>
                <a:spcPts val="600"/>
              </a:spcBef>
              <a:defRPr sz="1000">
                <a:solidFill>
                  <a:srgbClr val="334155"/>
                </a:solidFill>
              </a:defRPr>
            </a:pPr>
            <a:r>
              <a:t>Validates 15-char tax ID against state codes &amp; ISO 7064 Modulo 36.</a:t>
            </a:r>
          </a:p>
        </p:txBody>
      </p:sp>
      <p:sp>
        <p:nvSpPr>
          <p:cNvPr id="7" name="Rounded Rectangle 6"/>
          <p:cNvSpPr/>
          <p:nvPr/>
        </p:nvSpPr>
        <p:spPr>
          <a:xfrm>
            <a:off x="8046720" y="1737360"/>
            <a:ext cx="3383280" cy="2011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D97706"/>
                </a:solidFill>
              </a:defRPr>
            </a:pPr>
            <a:r>
              <a:t>+20 PTS</a:t>
            </a:r>
          </a:p>
          <a:p>
            <a:pPr>
              <a:spcBef>
                <a:spcPts val="400"/>
              </a:spcBef>
              <a:defRPr sz="1300" b="1">
                <a:solidFill>
                  <a:srgbClr val="0F172A"/>
                </a:solidFill>
              </a:defRPr>
            </a:pPr>
            <a:r>
              <a:t>Historical Amount Anomaly</a:t>
            </a:r>
          </a:p>
          <a:p>
            <a:pPr>
              <a:spcBef>
                <a:spcPts val="600"/>
              </a:spcBef>
              <a:defRPr sz="1000">
                <a:solidFill>
                  <a:srgbClr val="334155"/>
                </a:solidFill>
              </a:defRPr>
            </a:pPr>
            <a:r>
              <a:t>Flags expenses exceeding 2.0x employee's historical category average.</a:t>
            </a:r>
          </a:p>
        </p:txBody>
      </p:sp>
      <p:sp>
        <p:nvSpPr>
          <p:cNvPr id="8" name="Rounded Rectangle 7"/>
          <p:cNvSpPr/>
          <p:nvPr/>
        </p:nvSpPr>
        <p:spPr>
          <a:xfrm>
            <a:off x="731520" y="3931920"/>
            <a:ext cx="3383280" cy="2011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D97706"/>
                </a:solidFill>
              </a:defRPr>
            </a:pPr>
            <a:r>
              <a:t>+20 PTS</a:t>
            </a:r>
          </a:p>
          <a:p>
            <a:pPr>
              <a:spcBef>
                <a:spcPts val="400"/>
              </a:spcBef>
              <a:defRPr sz="1300" b="1">
                <a:solidFill>
                  <a:srgbClr val="0F172A"/>
                </a:solidFill>
              </a:defRPr>
            </a:pPr>
            <a:r>
              <a:t>Category Keyword Mismatch</a:t>
            </a:r>
          </a:p>
          <a:p>
            <a:pPr>
              <a:spcBef>
                <a:spcPts val="600"/>
              </a:spcBef>
              <a:defRPr sz="1000">
                <a:solidFill>
                  <a:srgbClr val="334155"/>
                </a:solidFill>
              </a:defRPr>
            </a:pPr>
            <a:r>
              <a:t>Detects dining, alcohol or personal purchases tagged as Fuel/Travel.</a:t>
            </a:r>
          </a:p>
        </p:txBody>
      </p:sp>
      <p:sp>
        <p:nvSpPr>
          <p:cNvPr id="9" name="Rounded Rectangle 8"/>
          <p:cNvSpPr/>
          <p:nvPr/>
        </p:nvSpPr>
        <p:spPr>
          <a:xfrm>
            <a:off x="4389120" y="3931920"/>
            <a:ext cx="3383280" cy="2011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334155"/>
                </a:solidFill>
              </a:defRPr>
            </a:pPr>
            <a:r>
              <a:t>+15 PTS</a:t>
            </a:r>
          </a:p>
          <a:p>
            <a:pPr>
              <a:spcBef>
                <a:spcPts val="400"/>
              </a:spcBef>
              <a:defRPr sz="1300" b="1">
                <a:solidFill>
                  <a:srgbClr val="0F172A"/>
                </a:solidFill>
              </a:defRPr>
            </a:pPr>
            <a:r>
              <a:t>Policy Cap Violation</a:t>
            </a:r>
          </a:p>
          <a:p>
            <a:pPr>
              <a:spcBef>
                <a:spcPts val="600"/>
              </a:spcBef>
              <a:defRPr sz="1000">
                <a:solidFill>
                  <a:srgbClr val="334155"/>
                </a:solidFill>
              </a:defRPr>
            </a:pPr>
            <a:r>
              <a:t>Enforces single-claim expenditure limits and tax invoice thresholds.</a:t>
            </a:r>
          </a:p>
        </p:txBody>
      </p:sp>
      <p:sp>
        <p:nvSpPr>
          <p:cNvPr id="10" name="Rounded Rectangle 9"/>
          <p:cNvSpPr/>
          <p:nvPr/>
        </p:nvSpPr>
        <p:spPr>
          <a:xfrm>
            <a:off x="8046720" y="3931920"/>
            <a:ext cx="3383280" cy="2011680"/>
          </a:xfrm>
          <a:prstGeom prst="roundRect">
            <a:avLst/>
          </a:prstGeom>
          <a:solidFill>
            <a:srgbClr val="FFFFFF"/>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000" b="1">
                <a:solidFill>
                  <a:srgbClr val="334155"/>
                </a:solidFill>
              </a:defRPr>
            </a:pPr>
            <a:r>
              <a:t>+15 PTS</a:t>
            </a:r>
          </a:p>
          <a:p>
            <a:pPr>
              <a:spcBef>
                <a:spcPts val="400"/>
              </a:spcBef>
              <a:defRPr sz="1300" b="1">
                <a:solidFill>
                  <a:srgbClr val="0F172A"/>
                </a:solidFill>
              </a:defRPr>
            </a:pPr>
            <a:r>
              <a:t>Date &amp; Timing Anomaly</a:t>
            </a:r>
          </a:p>
          <a:p>
            <a:pPr>
              <a:spcBef>
                <a:spcPts val="600"/>
              </a:spcBef>
              <a:defRPr sz="1000">
                <a:solidFill>
                  <a:srgbClr val="334155"/>
                </a:solidFill>
              </a:defRPr>
            </a:pPr>
            <a:r>
              <a:t>Flags backdated claims &gt;90 days old or impossible future dates.</a:t>
            </a:r>
          </a:p>
        </p:txBody>
      </p:sp>
      <p:sp>
        <p:nvSpPr>
          <p:cNvPr id="11" name="TextBox 10"/>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08 OF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RISK ENGINE</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Turn multiple signals into a decision-ready risk view.</a:t>
            </a:r>
          </a:p>
        </p:txBody>
      </p:sp>
      <p:pic>
        <p:nvPicPr>
          <p:cNvPr id="5" name="Picture 4" descr="fraud-risk.jpg"/>
          <p:cNvPicPr>
            <a:picLocks noChangeAspect="1"/>
          </p:cNvPicPr>
          <p:nvPr/>
        </p:nvPicPr>
        <p:blipFill>
          <a:blip r:embed="rId2"/>
          <a:stretch>
            <a:fillRect/>
          </a:stretch>
        </p:blipFill>
        <p:spPr>
          <a:xfrm>
            <a:off x="731520" y="1645920"/>
            <a:ext cx="5486400" cy="3062177"/>
          </a:xfrm>
          <a:prstGeom prst="rect">
            <a:avLst/>
          </a:prstGeom>
        </p:spPr>
      </p:pic>
      <p:sp>
        <p:nvSpPr>
          <p:cNvPr id="6" name="TextBox 5"/>
          <p:cNvSpPr txBox="1"/>
          <p:nvPr/>
        </p:nvSpPr>
        <p:spPr>
          <a:xfrm>
            <a:off x="6492240" y="1645920"/>
            <a:ext cx="4937760" cy="4389120"/>
          </a:xfrm>
          <a:prstGeom prst="rect">
            <a:avLst/>
          </a:prstGeom>
          <a:noFill/>
        </p:spPr>
        <p:txBody>
          <a:bodyPr wrap="square">
            <a:spAutoFit/>
          </a:bodyPr>
          <a:lstStyle/>
          <a:p>
            <a:pPr>
              <a:defRPr sz="1200" b="1">
                <a:solidFill>
                  <a:srgbClr val="F97316"/>
                </a:solidFill>
              </a:defRPr>
            </a:pPr>
            <a:r>
              <a:t>5 QUALIFIED AUTHENTICITY STATES</a:t>
            </a:r>
          </a:p>
          <a:p>
            <a:pPr>
              <a:spcBef>
                <a:spcPts val="800"/>
              </a:spcBef>
              <a:defRPr sz="1200" b="1">
                <a:solidFill>
                  <a:srgbClr val="16A34A"/>
                </a:solidFill>
              </a:defRPr>
            </a:pPr>
            <a:r>
              <a:t>[VERIFIED]</a:t>
            </a:r>
          </a:p>
          <a:p>
            <a:pPr>
              <a:spcBef>
                <a:spcPts val="200"/>
              </a:spcBef>
              <a:defRPr sz="1000">
                <a:solidFill>
                  <a:srgbClr val="334155"/>
                </a:solidFill>
              </a:defRPr>
            </a:pPr>
            <a:r>
              <a:t>Valid GSTIN, clear OCR (&gt;90%), zero fraud signals. Score: 0-24.</a:t>
            </a:r>
          </a:p>
          <a:p>
            <a:pPr>
              <a:spcBef>
                <a:spcPts val="800"/>
              </a:spcBef>
              <a:defRPr sz="1200" b="1">
                <a:solidFill>
                  <a:srgbClr val="2563EB"/>
                </a:solidFill>
              </a:defRPr>
            </a:pPr>
            <a:r>
              <a:t>[LIKELY VALID]</a:t>
            </a:r>
          </a:p>
          <a:p>
            <a:pPr>
              <a:spcBef>
                <a:spcPts val="200"/>
              </a:spcBef>
              <a:defRPr sz="1000">
                <a:solidFill>
                  <a:srgbClr val="334155"/>
                </a:solidFill>
              </a:defRPr>
            </a:pPr>
            <a:r>
              <a:t>Minor warning, slight date deviation, valid math. Score: 0-24.</a:t>
            </a:r>
          </a:p>
          <a:p>
            <a:pPr>
              <a:spcBef>
                <a:spcPts val="800"/>
              </a:spcBef>
              <a:defRPr sz="1200" b="1">
                <a:solidFill>
                  <a:srgbClr val="D97706"/>
                </a:solidFill>
              </a:defRPr>
            </a:pPr>
            <a:r>
              <a:t>[REVIEW REQUIRED]</a:t>
            </a:r>
          </a:p>
          <a:p>
            <a:pPr>
              <a:spcBef>
                <a:spcPts val="200"/>
              </a:spcBef>
              <a:defRPr sz="1000">
                <a:solidFill>
                  <a:srgbClr val="334155"/>
                </a:solidFill>
              </a:defRPr>
            </a:pPr>
            <a:r>
              <a:t>Amount anomaly or policy limit breach needing sign-off. Score: 25-49.</a:t>
            </a:r>
          </a:p>
          <a:p>
            <a:pPr>
              <a:spcBef>
                <a:spcPts val="800"/>
              </a:spcBef>
              <a:defRPr sz="1200" b="1">
                <a:solidFill>
                  <a:srgbClr val="DC2626"/>
                </a:solidFill>
              </a:defRPr>
            </a:pPr>
            <a:r>
              <a:t>[SUSPICIOUS]</a:t>
            </a:r>
          </a:p>
          <a:p>
            <a:pPr>
              <a:spcBef>
                <a:spcPts val="200"/>
              </a:spcBef>
              <a:defRPr sz="1000">
                <a:solidFill>
                  <a:srgbClr val="334155"/>
                </a:solidFill>
              </a:defRPr>
            </a:pPr>
            <a:r>
              <a:t>Duplicate hash match or invalid tax checksum detected. Score: 50-74.</a:t>
            </a:r>
          </a:p>
          <a:p>
            <a:pPr>
              <a:spcBef>
                <a:spcPts val="800"/>
              </a:spcBef>
              <a:defRPr sz="1200" b="1">
                <a:solidFill>
                  <a:srgbClr val="64748B"/>
                </a:solidFill>
              </a:defRPr>
            </a:pPr>
            <a:r>
              <a:t>[UNABLE TO VERIFY]</a:t>
            </a:r>
          </a:p>
          <a:p>
            <a:pPr>
              <a:spcBef>
                <a:spcPts val="200"/>
              </a:spcBef>
              <a:defRPr sz="1000">
                <a:solidFill>
                  <a:srgbClr val="334155"/>
                </a:solidFill>
              </a:defRPr>
            </a:pPr>
            <a:r>
              <a:t>Blurred image, unreadable merchant, low OCR (&lt;70%). Requires retake.</a:t>
            </a:r>
          </a:p>
        </p:txBody>
      </p:sp>
      <p:sp>
        <p:nvSpPr>
          <p:cNvPr id="7" name="TextBox 6"/>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09 OF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DBA74"/>
                </a:solidFill>
                <a:latin typeface="Plus Jakarta Sans"/>
              </a:defRPr>
            </a:pPr>
            <a:r>
              <a:t>BOUNDARY OF INTELLIGENCE</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FFFFFF"/>
                </a:solidFill>
                <a:latin typeface="Plus Jakarta Sans"/>
              </a:defRPr>
            </a:pPr>
            <a:r>
              <a:t>AI assists the review. It does not replace it.</a:t>
            </a:r>
          </a:p>
        </p:txBody>
      </p:sp>
      <p:sp>
        <p:nvSpPr>
          <p:cNvPr id="5" name="Rectangle 4"/>
          <p:cNvSpPr/>
          <p:nvPr/>
        </p:nvSpPr>
        <p:spPr>
          <a:xfrm>
            <a:off x="731520" y="1828800"/>
            <a:ext cx="5120640" cy="4114800"/>
          </a:xfrm>
          <a:prstGeom prst="rect">
            <a:avLst/>
          </a:prstGeom>
          <a:solidFill>
            <a:srgbClr val="1E293B"/>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16A34A"/>
                </a:solidFill>
              </a:defRPr>
            </a:pPr>
            <a:r>
              <a:t>WHAT AI CAN DO (EXPLANATION LAYER)</a:t>
            </a:r>
          </a:p>
          <a:p>
            <a:pPr>
              <a:spcBef>
                <a:spcPts val="1400"/>
              </a:spcBef>
              <a:defRPr sz="1150">
                <a:solidFill>
                  <a:srgbClr val="F8FAFC"/>
                </a:solidFill>
              </a:defRPr>
            </a:pPr>
            <a:r>
              <a:t>+  Synthesizes triggered fraud flags into plain-English summaries</a:t>
            </a:r>
          </a:p>
          <a:p>
            <a:pPr>
              <a:spcBef>
                <a:spcPts val="1400"/>
              </a:spcBef>
              <a:defRPr sz="1150">
                <a:solidFill>
                  <a:srgbClr val="F8FAFC"/>
                </a:solidFill>
              </a:defRPr>
            </a:pPr>
            <a:r>
              <a:t>+  Translates mathematical ratios into actionable manager tips</a:t>
            </a:r>
          </a:p>
          <a:p>
            <a:pPr>
              <a:spcBef>
                <a:spcPts val="1400"/>
              </a:spcBef>
              <a:defRPr sz="1150">
                <a:solidFill>
                  <a:srgbClr val="F8FAFC"/>
                </a:solidFill>
              </a:defRPr>
            </a:pPr>
            <a:r>
              <a:t>+  Assists receipt taxonomy classification when fuzzy</a:t>
            </a:r>
          </a:p>
          <a:p>
            <a:pPr>
              <a:spcBef>
                <a:spcPts val="1400"/>
              </a:spcBef>
              <a:defRPr sz="1150">
                <a:solidFill>
                  <a:srgbClr val="F8FAFC"/>
                </a:solidFill>
              </a:defRPr>
            </a:pPr>
            <a:r>
              <a:t>+  Provides contextual explanations to speed up human reviews</a:t>
            </a:r>
          </a:p>
        </p:txBody>
      </p:sp>
      <p:sp>
        <p:nvSpPr>
          <p:cNvPr id="6" name="Rectangle 5"/>
          <p:cNvSpPr/>
          <p:nvPr/>
        </p:nvSpPr>
        <p:spPr>
          <a:xfrm>
            <a:off x="6217920" y="1828800"/>
            <a:ext cx="5212080" cy="4114800"/>
          </a:xfrm>
          <a:prstGeom prst="rect">
            <a:avLst/>
          </a:prstGeom>
          <a:solidFill>
            <a:srgbClr val="1E293B"/>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200" b="1">
                <a:solidFill>
                  <a:srgbClr val="DC2626"/>
                </a:solidFill>
              </a:defRPr>
            </a:pPr>
            <a:r>
              <a:t>WHAT AI DOES NOT DO (STRICT CONTROLS)</a:t>
            </a:r>
          </a:p>
          <a:p>
            <a:pPr>
              <a:spcBef>
                <a:spcPts val="1400"/>
              </a:spcBef>
              <a:defRPr sz="1150">
                <a:solidFill>
                  <a:srgbClr val="F8FAFC"/>
                </a:solidFill>
              </a:defRPr>
            </a:pPr>
            <a:r>
              <a:t>-  Never independently approves or rejects financial claims</a:t>
            </a:r>
          </a:p>
          <a:p>
            <a:pPr>
              <a:spcBef>
                <a:spcPts val="1400"/>
              </a:spcBef>
              <a:defRPr sz="1150">
                <a:solidFill>
                  <a:srgbClr val="F8FAFC"/>
                </a:solidFill>
              </a:defRPr>
            </a:pPr>
            <a:r>
              <a:t>-  Never overrides company security policies or spending limits</a:t>
            </a:r>
          </a:p>
          <a:p>
            <a:pPr>
              <a:spcBef>
                <a:spcPts val="1400"/>
              </a:spcBef>
              <a:defRPr sz="1150">
                <a:solidFill>
                  <a:srgbClr val="F8FAFC"/>
                </a:solidFill>
              </a:defRPr>
            </a:pPr>
            <a:r>
              <a:t>-  Cannot mutate or delete audit log entries in the database</a:t>
            </a:r>
          </a:p>
          <a:p>
            <a:pPr>
              <a:spcBef>
                <a:spcPts val="1400"/>
              </a:spcBef>
              <a:defRPr sz="1150">
                <a:solidFill>
                  <a:srgbClr val="F8FAFC"/>
                </a:solidFill>
              </a:defRPr>
            </a:pPr>
            <a:r>
              <a:t>-  Cannot grant organization membership or session credentials</a:t>
            </a:r>
          </a:p>
        </p:txBody>
      </p:sp>
      <p:sp>
        <p:nvSpPr>
          <p:cNvPr id="7" name="TextBox 6"/>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10 OF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MULTI-TIER PLATFORM</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Built as a connected, scalable platform.</a:t>
            </a:r>
          </a:p>
        </p:txBody>
      </p:sp>
      <p:sp>
        <p:nvSpPr>
          <p:cNvPr id="5" name="Rectangle 4"/>
          <p:cNvSpPr/>
          <p:nvPr/>
        </p:nvSpPr>
        <p:spPr>
          <a:xfrm>
            <a:off x="731520" y="1828800"/>
            <a:ext cx="10698480" cy="91440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00" b="1">
                <a:solidFill>
                  <a:srgbClr val="F97316"/>
                </a:solidFill>
              </a:defRPr>
            </a:pPr>
            <a:r>
              <a:t>1. CLIENT SURFACES</a:t>
            </a:r>
          </a:p>
          <a:p>
            <a:pPr>
              <a:spcBef>
                <a:spcPts val="300"/>
              </a:spcBef>
              <a:defRPr sz="1200">
                <a:solidFill>
                  <a:srgbClr val="0F172A"/>
                </a:solidFill>
              </a:defRPr>
            </a:pPr>
            <a:r>
              <a:t>Flutter Mobile App (Field Staff)  |  Next.js 15 Web Portal (Finance Managers)</a:t>
            </a:r>
          </a:p>
        </p:txBody>
      </p:sp>
      <p:sp>
        <p:nvSpPr>
          <p:cNvPr id="6" name="Rectangle 5"/>
          <p:cNvSpPr/>
          <p:nvPr/>
        </p:nvSpPr>
        <p:spPr>
          <a:xfrm>
            <a:off x="731520" y="2926080"/>
            <a:ext cx="10698480" cy="91440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00" b="1">
                <a:solidFill>
                  <a:srgbClr val="0F172A"/>
                </a:solidFill>
              </a:defRPr>
            </a:pPr>
            <a:r>
              <a:t>2. SECURE API GATEWAY</a:t>
            </a:r>
          </a:p>
          <a:p>
            <a:pPr>
              <a:spcBef>
                <a:spcPts val="300"/>
              </a:spcBef>
              <a:defRPr sz="1200">
                <a:solidFill>
                  <a:srgbClr val="0F172A"/>
                </a:solidFill>
              </a:defRPr>
            </a:pPr>
            <a:r>
              <a:t>Fastify REST API  |  JWT Authentication  |  Organization Multi-Tenancy</a:t>
            </a:r>
          </a:p>
        </p:txBody>
      </p:sp>
      <p:sp>
        <p:nvSpPr>
          <p:cNvPr id="7" name="Rectangle 6"/>
          <p:cNvSpPr/>
          <p:nvPr/>
        </p:nvSpPr>
        <p:spPr>
          <a:xfrm>
            <a:off x="731520" y="4023360"/>
            <a:ext cx="10698480" cy="91440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00" b="1">
                <a:solidFill>
                  <a:srgbClr val="334155"/>
                </a:solidFill>
              </a:defRPr>
            </a:pPr>
            <a:r>
              <a:t>3. CORE DOMAIN SERVICES</a:t>
            </a:r>
          </a:p>
          <a:p>
            <a:pPr>
              <a:spcBef>
                <a:spcPts val="300"/>
              </a:spcBef>
              <a:defRPr sz="1200">
                <a:solidFill>
                  <a:srgbClr val="0F172A"/>
                </a:solidFill>
              </a:defRPr>
            </a:pPr>
            <a:r>
              <a:t>Claim Lifecycle  |  Receipt Ingestion  |  Deterministic Fraud Rules  |  Risk Scorer</a:t>
            </a:r>
          </a:p>
        </p:txBody>
      </p:sp>
      <p:sp>
        <p:nvSpPr>
          <p:cNvPr id="8" name="Rectangle 7"/>
          <p:cNvSpPr/>
          <p:nvPr/>
        </p:nvSpPr>
        <p:spPr>
          <a:xfrm>
            <a:off x="731520" y="5120640"/>
            <a:ext cx="10698480" cy="914400"/>
          </a:xfrm>
          <a:prstGeom prst="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a:lstStyle/>
          <a:p>
            <a:pPr algn="ctr">
              <a:defRPr sz="1100" b="1">
                <a:solidFill>
                  <a:srgbClr val="F97316"/>
                </a:solidFill>
              </a:defRPr>
            </a:pPr>
            <a:r>
              <a:t>4. DATA &amp; SERVERLESS CLOUD</a:t>
            </a:r>
          </a:p>
          <a:p>
            <a:pPr>
              <a:spcBef>
                <a:spcPts val="300"/>
              </a:spcBef>
              <a:defRPr sz="1200">
                <a:solidFill>
                  <a:srgbClr val="0F172A"/>
                </a:solidFill>
              </a:defRPr>
            </a:pPr>
            <a:r>
              <a:t>Supabase PostgreSQL (RLS, Audit)  |  AWS S3, Textract, Step Functions, Bedrock</a:t>
            </a:r>
          </a:p>
        </p:txBody>
      </p:sp>
      <p:sp>
        <p:nvSpPr>
          <p:cNvPr id="9" name="TextBox 8"/>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11 OF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DBA74"/>
                </a:solidFill>
                <a:latin typeface="Plus Jakarta Sans"/>
              </a:defRPr>
            </a:pPr>
            <a:r>
              <a:t>RECEIPT LIFECYCLE</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FFFFFF"/>
                </a:solidFill>
                <a:latin typeface="Plus Jakarta Sans"/>
              </a:defRPr>
            </a:pPr>
            <a:r>
              <a:t>Follow one receipt through the system (15 Steps).</a:t>
            </a:r>
          </a:p>
        </p:txBody>
      </p:sp>
      <p:sp>
        <p:nvSpPr>
          <p:cNvPr id="5" name="Rectangle 4"/>
          <p:cNvSpPr/>
          <p:nvPr/>
        </p:nvSpPr>
        <p:spPr>
          <a:xfrm>
            <a:off x="731520" y="1828800"/>
            <a:ext cx="3383280" cy="411480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a:solidFill>
                  <a:srgbClr val="F8FAFC"/>
                </a:solidFill>
              </a:defRPr>
            </a:pPr>
            <a:r>
              <a:t>1. Employee snaps receipt in Flutter app</a:t>
            </a:r>
          </a:p>
          <a:p>
            <a:pPr>
              <a:spcBef>
                <a:spcPts val="1400"/>
              </a:spcBef>
              <a:defRPr sz="1100">
                <a:solidFill>
                  <a:srgbClr val="F8FAFC"/>
                </a:solidFill>
              </a:defRPr>
            </a:pPr>
            <a:r>
              <a:t>2. Encrypted image uploaded to Fastify API</a:t>
            </a:r>
          </a:p>
          <a:p>
            <a:pPr>
              <a:spcBef>
                <a:spcPts val="1400"/>
              </a:spcBef>
              <a:defRPr sz="1100">
                <a:solidFill>
                  <a:srgbClr val="F8FAFC"/>
                </a:solidFill>
              </a:defRPr>
            </a:pPr>
            <a:r>
              <a:t>3. Pending claim record initialized in DB</a:t>
            </a:r>
          </a:p>
          <a:p>
            <a:pPr>
              <a:spcBef>
                <a:spcPts val="1400"/>
              </a:spcBef>
              <a:defRPr sz="1100">
                <a:solidFill>
                  <a:srgbClr val="F8FAFC"/>
                </a:solidFill>
              </a:defRPr>
            </a:pPr>
            <a:r>
              <a:t>4. Image stored in S3 (KMS encryption)</a:t>
            </a:r>
          </a:p>
          <a:p>
            <a:pPr>
              <a:spcBef>
                <a:spcPts val="1400"/>
              </a:spcBef>
              <a:defRPr sz="1100">
                <a:solidFill>
                  <a:srgbClr val="F8FAFC"/>
                </a:solidFill>
              </a:defRPr>
            </a:pPr>
            <a:r>
              <a:t>5. EventBridge triggers AWS Textract OCR</a:t>
            </a:r>
          </a:p>
        </p:txBody>
      </p:sp>
      <p:sp>
        <p:nvSpPr>
          <p:cNvPr id="6" name="Rectangle 5"/>
          <p:cNvSpPr/>
          <p:nvPr/>
        </p:nvSpPr>
        <p:spPr>
          <a:xfrm>
            <a:off x="4389120" y="1828800"/>
            <a:ext cx="3383280" cy="411480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a:solidFill>
                  <a:srgbClr val="F8FAFC"/>
                </a:solidFill>
              </a:defRPr>
            </a:pPr>
            <a:r>
              <a:t>6. Textract extracts key-values &amp; lines</a:t>
            </a:r>
          </a:p>
          <a:p>
            <a:pPr>
              <a:spcBef>
                <a:spcPts val="1400"/>
              </a:spcBef>
              <a:defRPr sz="1100">
                <a:solidFill>
                  <a:srgbClr val="F8FAFC"/>
                </a:solidFill>
              </a:defRPr>
            </a:pPr>
            <a:r>
              <a:t>7. Normalizer standardizes date, amount, GSTIN</a:t>
            </a:r>
          </a:p>
          <a:p>
            <a:pPr>
              <a:spcBef>
                <a:spcPts val="1400"/>
              </a:spcBef>
              <a:defRPr sz="1100">
                <a:solidFill>
                  <a:srgbClr val="F8FAFC"/>
                </a:solidFill>
              </a:defRPr>
            </a:pPr>
            <a:r>
              <a:t>8. Deterministic validation checks math/caps</a:t>
            </a:r>
          </a:p>
          <a:p>
            <a:pPr>
              <a:spcBef>
                <a:spcPts val="1400"/>
              </a:spcBef>
              <a:defRPr sz="1100">
                <a:solidFill>
                  <a:srgbClr val="F8FAFC"/>
                </a:solidFill>
              </a:defRPr>
            </a:pPr>
            <a:r>
              <a:t>9. Fraud engine checks duplicate hashes</a:t>
            </a:r>
          </a:p>
          <a:p>
            <a:pPr>
              <a:spcBef>
                <a:spcPts val="1400"/>
              </a:spcBef>
              <a:defRPr sz="1100">
                <a:solidFill>
                  <a:srgbClr val="F8FAFC"/>
                </a:solidFill>
              </a:defRPr>
            </a:pPr>
            <a:r>
              <a:t>10. Risk engine calculates 0-100 score</a:t>
            </a:r>
          </a:p>
        </p:txBody>
      </p:sp>
      <p:sp>
        <p:nvSpPr>
          <p:cNvPr id="7" name="Rectangle 6"/>
          <p:cNvSpPr/>
          <p:nvPr/>
        </p:nvSpPr>
        <p:spPr>
          <a:xfrm>
            <a:off x="8046720" y="1828800"/>
            <a:ext cx="3383280" cy="4114800"/>
          </a:xfrm>
          <a:prstGeom prst="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sz="1100">
                <a:solidFill>
                  <a:srgbClr val="F8FAFC"/>
                </a:solidFill>
              </a:defRPr>
            </a:pPr>
            <a:r>
              <a:t>11. AWS Bedrock synthesizes risk narrative</a:t>
            </a:r>
          </a:p>
          <a:p>
            <a:pPr>
              <a:spcBef>
                <a:spcPts val="1400"/>
              </a:spcBef>
              <a:defRPr sz="1100">
                <a:solidFill>
                  <a:srgbClr val="F8FAFC"/>
                </a:solidFill>
              </a:defRPr>
            </a:pPr>
            <a:r>
              <a:t>12. All records sync to Supabase with RLS</a:t>
            </a:r>
          </a:p>
          <a:p>
            <a:pPr>
              <a:spcBef>
                <a:spcPts val="1400"/>
              </a:spcBef>
              <a:defRPr sz="1100">
                <a:solidFill>
                  <a:srgbClr val="F8FAFC"/>
                </a:solidFill>
              </a:defRPr>
            </a:pPr>
            <a:r>
              <a:t>13. Manager receives claim in operations queue</a:t>
            </a:r>
          </a:p>
          <a:p>
            <a:pPr>
              <a:spcBef>
                <a:spcPts val="1400"/>
              </a:spcBef>
              <a:defRPr sz="1100">
                <a:solidFill>
                  <a:srgbClr val="F8FAFC"/>
                </a:solidFill>
              </a:defRPr>
            </a:pPr>
            <a:r>
              <a:t>14. Manager approves/rejects with audit note</a:t>
            </a:r>
          </a:p>
          <a:p>
            <a:pPr>
              <a:spcBef>
                <a:spcPts val="1400"/>
              </a:spcBef>
              <a:defRPr sz="1100">
                <a:solidFill>
                  <a:srgbClr val="F8FAFC"/>
                </a:solidFill>
              </a:defRPr>
            </a:pPr>
            <a:r>
              <a:t>15. Employee receives instant phone status sync</a:t>
            </a:r>
          </a:p>
        </p:txBody>
      </p:sp>
      <p:sp>
        <p:nvSpPr>
          <p:cNvPr id="8" name="TextBox 7"/>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12 OF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CONTROLLED ONBOARDING</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Simple onboarding. Controlled access.</a:t>
            </a:r>
          </a:p>
        </p:txBody>
      </p:sp>
      <p:pic>
        <p:nvPicPr>
          <p:cNvPr id="5" name="Picture 4" descr="onboarding-pairing.jpg"/>
          <p:cNvPicPr>
            <a:picLocks noChangeAspect="1"/>
          </p:cNvPicPr>
          <p:nvPr/>
        </p:nvPicPr>
        <p:blipFill>
          <a:blip r:embed="rId2"/>
          <a:stretch>
            <a:fillRect/>
          </a:stretch>
        </p:blipFill>
        <p:spPr>
          <a:xfrm>
            <a:off x="731520" y="1645920"/>
            <a:ext cx="5486400" cy="3062177"/>
          </a:xfrm>
          <a:prstGeom prst="rect">
            <a:avLst/>
          </a:prstGeom>
        </p:spPr>
      </p:pic>
      <p:sp>
        <p:nvSpPr>
          <p:cNvPr id="6" name="TextBox 5"/>
          <p:cNvSpPr txBox="1"/>
          <p:nvPr/>
        </p:nvSpPr>
        <p:spPr>
          <a:xfrm>
            <a:off x="6492240" y="1645920"/>
            <a:ext cx="4937760" cy="4389120"/>
          </a:xfrm>
          <a:prstGeom prst="rect">
            <a:avLst/>
          </a:prstGeom>
          <a:noFill/>
        </p:spPr>
        <p:txBody>
          <a:bodyPr wrap="square">
            <a:spAutoFit/>
          </a:bodyPr>
          <a:lstStyle/>
          <a:p>
            <a:pPr>
              <a:defRPr sz="1300" b="1">
                <a:solidFill>
                  <a:srgbClr val="0F172A"/>
                </a:solidFill>
              </a:defRPr>
            </a:pPr>
            <a:r>
              <a:t>Manager Creates Workspace</a:t>
            </a:r>
          </a:p>
          <a:p>
            <a:pPr>
              <a:spcBef>
                <a:spcPts val="200"/>
              </a:spcBef>
              <a:defRPr sz="1050">
                <a:solidFill>
                  <a:srgbClr val="334155"/>
                </a:solidFill>
              </a:defRPr>
            </a:pPr>
            <a:r>
              <a:t>Manager provisions organization with spending policies and branch parameters in the web portal.</a:t>
            </a:r>
          </a:p>
          <a:p>
            <a:pPr>
              <a:spcBef>
                <a:spcPts val="1000"/>
              </a:spcBef>
              <a:defRPr sz="1300" b="1">
                <a:solidFill>
                  <a:srgbClr val="0F172A"/>
                </a:solidFill>
              </a:defRPr>
            </a:pPr>
            <a:r>
              <a:t>Generates 6-Character Join Code</a:t>
            </a:r>
          </a:p>
          <a:p>
            <a:pPr>
              <a:spcBef>
                <a:spcPts val="200"/>
              </a:spcBef>
              <a:defRPr sz="1050">
                <a:solidFill>
                  <a:srgbClr val="334155"/>
                </a:solidFill>
              </a:defRPr>
            </a:pPr>
            <a:r>
              <a:t>Temporary alpha-numeric code (e.g. 'CG-7842') generated with short TTL and role assignment.</a:t>
            </a:r>
          </a:p>
          <a:p>
            <a:pPr>
              <a:spcBef>
                <a:spcPts val="1000"/>
              </a:spcBef>
              <a:defRPr sz="1300" b="1">
                <a:solidFill>
                  <a:srgbClr val="0F172A"/>
                </a:solidFill>
              </a:defRPr>
            </a:pPr>
            <a:r>
              <a:t>Employee Pairs Device Instantly</a:t>
            </a:r>
          </a:p>
          <a:p>
            <a:pPr>
              <a:spcBef>
                <a:spcPts val="200"/>
              </a:spcBef>
              <a:defRPr sz="1050">
                <a:solidFill>
                  <a:srgbClr val="334155"/>
                </a:solidFill>
              </a:defRPr>
            </a:pPr>
            <a:r>
              <a:t>Field staff enter the code in the mobile app. Device is cryptographically bound to the company.</a:t>
            </a:r>
          </a:p>
          <a:p>
            <a:pPr>
              <a:spcBef>
                <a:spcPts val="1000"/>
              </a:spcBef>
              <a:defRPr sz="1300" b="1">
                <a:solidFill>
                  <a:srgbClr val="0F172A"/>
                </a:solidFill>
              </a:defRPr>
            </a:pPr>
            <a:r>
              <a:t>No Social Login Lock-In</a:t>
            </a:r>
          </a:p>
          <a:p>
            <a:pPr>
              <a:spcBef>
                <a:spcPts val="200"/>
              </a:spcBef>
              <a:defRPr sz="1050">
                <a:solidFill>
                  <a:srgbClr val="334155"/>
                </a:solidFill>
              </a:defRPr>
            </a:pPr>
            <a:r>
              <a:t>No Google accounts, corporate emails, or complex passwords required for drivers and field crew.</a:t>
            </a:r>
          </a:p>
          <a:p>
            <a:pPr>
              <a:spcBef>
                <a:spcPts val="1000"/>
              </a:spcBef>
              <a:defRPr sz="1300" b="1">
                <a:solidFill>
                  <a:srgbClr val="0F172A"/>
                </a:solidFill>
              </a:defRPr>
            </a:pPr>
            <a:r>
              <a:t>Secure Session JWT Tokens</a:t>
            </a:r>
          </a:p>
          <a:p>
            <a:pPr>
              <a:spcBef>
                <a:spcPts val="200"/>
              </a:spcBef>
              <a:defRPr sz="1050">
                <a:solidFill>
                  <a:srgbClr val="334155"/>
                </a:solidFill>
              </a:defRPr>
            </a:pPr>
            <a:r>
              <a:t>Backend validates code, creates membership, and issues scoped access tokens stored in device keychain.</a:t>
            </a:r>
          </a:p>
        </p:txBody>
      </p:sp>
      <p:sp>
        <p:nvSpPr>
          <p:cNvPr id="7" name="TextBox 6"/>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13 OF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97316"/>
                </a:solidFill>
                <a:latin typeface="Plus Jakarta Sans"/>
              </a:defRPr>
            </a:pPr>
            <a:r>
              <a:t>BUSINESS IMPACT</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0F172A"/>
                </a:solidFill>
                <a:latin typeface="Plus Jakarta Sans"/>
              </a:defRPr>
            </a:pPr>
            <a:r>
              <a:t>What ClaimGuard is designed to improve.</a:t>
            </a:r>
          </a:p>
        </p:txBody>
      </p:sp>
      <p:sp>
        <p:nvSpPr>
          <p:cNvPr id="5" name="Rounded Rectangle 4"/>
          <p:cNvSpPr/>
          <p:nvPr/>
        </p:nvSpPr>
        <p:spPr>
          <a:xfrm>
            <a:off x="731520" y="1828800"/>
            <a:ext cx="521208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F97316"/>
                </a:solidFill>
              </a:defRPr>
            </a:pPr>
            <a:r>
              <a:t>LESS MANUAL VERIFICATION</a:t>
            </a:r>
          </a:p>
          <a:p>
            <a:pPr>
              <a:spcBef>
                <a:spcPts val="800"/>
              </a:spcBef>
              <a:defRPr sz="1100">
                <a:solidFill>
                  <a:srgbClr val="334155"/>
                </a:solidFill>
              </a:defRPr>
            </a:pPr>
            <a:r>
              <a:t>Automated OCR, math checks &amp; GSTIN validation free managers from tedious receipt auditing.</a:t>
            </a:r>
          </a:p>
        </p:txBody>
      </p:sp>
      <p:sp>
        <p:nvSpPr>
          <p:cNvPr id="6" name="Rounded Rectangle 5"/>
          <p:cNvSpPr/>
          <p:nvPr/>
        </p:nvSpPr>
        <p:spPr>
          <a:xfrm>
            <a:off x="6217920" y="1828800"/>
            <a:ext cx="521208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F97316"/>
                </a:solidFill>
              </a:defRPr>
            </a:pPr>
            <a:r>
              <a:t>FASTER REVIEW CYCLES</a:t>
            </a:r>
          </a:p>
          <a:p>
            <a:pPr>
              <a:spcBef>
                <a:spcPts val="800"/>
              </a:spcBef>
              <a:defRPr sz="1100">
                <a:solidFill>
                  <a:srgbClr val="334155"/>
                </a:solidFill>
              </a:defRPr>
            </a:pPr>
            <a:r>
              <a:t>Field staff receive reimbursement decisions in days or hours instead of weeks, boosting morale.</a:t>
            </a:r>
          </a:p>
        </p:txBody>
      </p:sp>
      <p:sp>
        <p:nvSpPr>
          <p:cNvPr id="7" name="Rounded Rectangle 6"/>
          <p:cNvSpPr/>
          <p:nvPr/>
        </p:nvSpPr>
        <p:spPr>
          <a:xfrm>
            <a:off x="731520" y="4023360"/>
            <a:ext cx="521208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F97316"/>
                </a:solidFill>
              </a:defRPr>
            </a:pPr>
            <a:r>
              <a:t>EARLIER SUSPICIOUS SIGNALS</a:t>
            </a:r>
          </a:p>
          <a:p>
            <a:pPr>
              <a:spcBef>
                <a:spcPts val="800"/>
              </a:spcBef>
              <a:defRPr sz="1100">
                <a:solidFill>
                  <a:srgbClr val="334155"/>
                </a:solidFill>
              </a:defRPr>
            </a:pPr>
            <a:r>
              <a:t>Duplicate hashes, historical spending spikes &amp; fake tax IDs flagged before payouts are disbursed.</a:t>
            </a:r>
          </a:p>
        </p:txBody>
      </p:sp>
      <p:sp>
        <p:nvSpPr>
          <p:cNvPr id="8" name="Rounded Rectangle 7"/>
          <p:cNvSpPr/>
          <p:nvPr/>
        </p:nvSpPr>
        <p:spPr>
          <a:xfrm>
            <a:off x="6217920" y="4023360"/>
            <a:ext cx="5212080" cy="2011680"/>
          </a:xfrm>
          <a:prstGeom prst="roundRect">
            <a:avLst/>
          </a:prstGeom>
          <a:solidFill>
            <a:srgbClr val="FFFFFF"/>
          </a:solidFill>
          <a:ln w="1905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500" b="1">
                <a:solidFill>
                  <a:srgbClr val="F97316"/>
                </a:solidFill>
              </a:defRPr>
            </a:pPr>
            <a:r>
              <a:t>CENTRALIZED VISIBILITY</a:t>
            </a:r>
          </a:p>
          <a:p>
            <a:pPr>
              <a:spcBef>
                <a:spcPts val="800"/>
              </a:spcBef>
              <a:defRPr sz="1100">
                <a:solidFill>
                  <a:srgbClr val="334155"/>
                </a:solidFill>
              </a:defRPr>
            </a:pPr>
            <a:r>
              <a:t>Unified audit trail and real-time dashboard provide complete oversight across all regional branches.</a:t>
            </a:r>
          </a:p>
        </p:txBody>
      </p:sp>
      <p:sp>
        <p:nvSpPr>
          <p:cNvPr id="9" name="TextBox 8"/>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14 OF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square" lIns="0" tIns="0" rIns="0" bIns="0">
            <a:spAutoFit/>
          </a:bodyPr>
          <a:lstStyle/>
          <a:p>
            <a:pPr>
              <a:defRPr sz="1100" b="1">
                <a:solidFill>
                  <a:srgbClr val="FDBA74"/>
                </a:solidFill>
                <a:latin typeface="Plus Jakarta Sans"/>
              </a:defRPr>
            </a:pPr>
            <a:r>
              <a:t>PRODUCT ROADMAP &amp; CLOSING</a:t>
            </a:r>
          </a:p>
        </p:txBody>
      </p:sp>
      <p:sp>
        <p:nvSpPr>
          <p:cNvPr id="4" name="TextBox 3"/>
          <p:cNvSpPr txBox="1"/>
          <p:nvPr/>
        </p:nvSpPr>
        <p:spPr>
          <a:xfrm>
            <a:off x="731520" y="822960"/>
            <a:ext cx="10698480" cy="731520"/>
          </a:xfrm>
          <a:prstGeom prst="rect">
            <a:avLst/>
          </a:prstGeom>
          <a:noFill/>
        </p:spPr>
        <p:txBody>
          <a:bodyPr wrap="square" lIns="0" tIns="0" rIns="0" bIns="0">
            <a:spAutoFit/>
          </a:bodyPr>
          <a:lstStyle/>
          <a:p>
            <a:pPr>
              <a:defRPr sz="2800" b="1">
                <a:solidFill>
                  <a:srgbClr val="FFFFFF"/>
                </a:solidFill>
                <a:latin typeface="Plus Jakarta Sans"/>
              </a:defRPr>
            </a:pPr>
            <a:r>
              <a:t>From receipt verification to an intelligent expense workflow.</a:t>
            </a:r>
          </a:p>
        </p:txBody>
      </p:sp>
      <p:sp>
        <p:nvSpPr>
          <p:cNvPr id="5" name="Rectangle 4"/>
          <p:cNvSpPr/>
          <p:nvPr/>
        </p:nvSpPr>
        <p:spPr>
          <a:xfrm>
            <a:off x="731520" y="1920240"/>
            <a:ext cx="2057400" cy="3931920"/>
          </a:xfrm>
          <a:prstGeom prst="rect">
            <a:avLst/>
          </a:prstGeom>
          <a:solidFill>
            <a:srgbClr val="1E293B"/>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16A34A"/>
                </a:solidFill>
              </a:defRPr>
            </a:pPr>
            <a:r>
              <a:t>PHASE 1 (CURRENT)</a:t>
            </a:r>
          </a:p>
          <a:p>
            <a:pPr>
              <a:spcBef>
                <a:spcPts val="800"/>
              </a:spcBef>
              <a:defRPr sz="1000">
                <a:solidFill>
                  <a:srgbClr val="F8FAFC"/>
                </a:solidFill>
              </a:defRPr>
            </a:pPr>
            <a:r>
              <a:t>Core receipt verification, OCR extraction, deterministic fraud rules &amp; manager dashboard.</a:t>
            </a:r>
          </a:p>
        </p:txBody>
      </p:sp>
      <p:sp>
        <p:nvSpPr>
          <p:cNvPr id="6" name="Rectangle 5"/>
          <p:cNvSpPr/>
          <p:nvPr/>
        </p:nvSpPr>
        <p:spPr>
          <a:xfrm>
            <a:off x="2926080" y="1920240"/>
            <a:ext cx="2057400" cy="3931920"/>
          </a:xfrm>
          <a:prstGeom prst="rect">
            <a:avLst/>
          </a:prstGeom>
          <a:solidFill>
            <a:srgbClr val="1E293B"/>
          </a:solidFill>
          <a:ln w="1905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FDBA74"/>
                </a:solidFill>
              </a:defRPr>
            </a:pPr>
            <a:r>
              <a:t>PHASE 2 (NEXT)</a:t>
            </a:r>
          </a:p>
          <a:p>
            <a:pPr>
              <a:spcBef>
                <a:spcPts val="800"/>
              </a:spcBef>
              <a:defRPr sz="1000">
                <a:solidFill>
                  <a:srgbClr val="F8FAFC"/>
                </a:solidFill>
              </a:defRPr>
            </a:pPr>
            <a:r>
              <a:t>Advanced risk intelligence with 90-day rolling behavioral baselines and peer group clustering.</a:t>
            </a:r>
          </a:p>
        </p:txBody>
      </p:sp>
      <p:sp>
        <p:nvSpPr>
          <p:cNvPr id="7" name="Rectangle 6"/>
          <p:cNvSpPr/>
          <p:nvPr/>
        </p:nvSpPr>
        <p:spPr>
          <a:xfrm>
            <a:off x="5120640" y="1920240"/>
            <a:ext cx="2057400" cy="3931920"/>
          </a:xfrm>
          <a:prstGeom prst="rect">
            <a:avLst/>
          </a:prstGeom>
          <a:solidFill>
            <a:srgbClr val="1E293B"/>
          </a:solidFill>
          <a:ln w="19050">
            <a:solidFill>
              <a:srgbClr val="FDBA7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FDBA74"/>
                </a:solidFill>
              </a:defRPr>
            </a:pPr>
            <a:r>
              <a:t>PHASE 3 (ANALYTICS)</a:t>
            </a:r>
          </a:p>
          <a:p>
            <a:pPr>
              <a:spcBef>
                <a:spcPts val="800"/>
              </a:spcBef>
              <a:defRPr sz="1000">
                <a:solidFill>
                  <a:srgbClr val="F8FAFC"/>
                </a:solidFill>
              </a:defRPr>
            </a:pPr>
            <a:r>
              <a:t>Organization-wide benchmark heatmaps, category leak analysis, and tax audit export.</a:t>
            </a:r>
          </a:p>
        </p:txBody>
      </p:sp>
      <p:sp>
        <p:nvSpPr>
          <p:cNvPr id="8" name="Rectangle 7"/>
          <p:cNvSpPr/>
          <p:nvPr/>
        </p:nvSpPr>
        <p:spPr>
          <a:xfrm>
            <a:off x="7315200" y="1920240"/>
            <a:ext cx="2057400" cy="3931920"/>
          </a:xfrm>
          <a:prstGeom prst="rect">
            <a:avLst/>
          </a:prstGeom>
          <a:solidFill>
            <a:srgbClr val="1E293B"/>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64748B"/>
                </a:solidFill>
              </a:defRPr>
            </a:pPr>
            <a:r>
              <a:t>PHASE 4 (MESSAGING)</a:t>
            </a:r>
          </a:p>
          <a:p>
            <a:pPr>
              <a:spcBef>
                <a:spcPts val="800"/>
              </a:spcBef>
              <a:defRPr sz="1000">
                <a:solidFill>
                  <a:srgbClr val="F8FAFC"/>
                </a:solidFill>
              </a:defRPr>
            </a:pPr>
            <a:r>
              <a:t>Conversational WhatsApp receipt submission channel [FUTURE INTEGRATION].</a:t>
            </a:r>
          </a:p>
        </p:txBody>
      </p:sp>
      <p:sp>
        <p:nvSpPr>
          <p:cNvPr id="9" name="Rectangle 8"/>
          <p:cNvSpPr/>
          <p:nvPr/>
        </p:nvSpPr>
        <p:spPr>
          <a:xfrm>
            <a:off x="9509760" y="1920240"/>
            <a:ext cx="2057400" cy="3931920"/>
          </a:xfrm>
          <a:prstGeom prst="rect">
            <a:avLst/>
          </a:prstGeom>
          <a:solidFill>
            <a:srgbClr val="1E293B"/>
          </a:solidFill>
          <a:ln w="19050">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100" b="1">
                <a:solidFill>
                  <a:srgbClr val="64748B"/>
                </a:solidFill>
              </a:defRPr>
            </a:pPr>
            <a:r>
              <a:t>PHASE 5 (ERP CONNECTORS)</a:t>
            </a:r>
          </a:p>
          <a:p>
            <a:pPr>
              <a:spcBef>
                <a:spcPts val="800"/>
              </a:spcBef>
              <a:defRPr sz="1000">
                <a:solidFill>
                  <a:srgbClr val="F8FAFC"/>
                </a:solidFill>
              </a:defRPr>
            </a:pPr>
            <a:r>
              <a:t>Direct two-way accounting sync into SAP, Tally, and Zoho Books [FUTURE INTEGRATION].</a:t>
            </a:r>
          </a:p>
        </p:txBody>
      </p:sp>
      <p:sp>
        <p:nvSpPr>
          <p:cNvPr id="10" name="TextBox 9"/>
          <p:cNvSpPr txBox="1"/>
          <p:nvPr/>
        </p:nvSpPr>
        <p:spPr>
          <a:xfrm>
            <a:off x="731520" y="6400800"/>
            <a:ext cx="10698480" cy="274320"/>
          </a:xfrm>
          <a:prstGeom prst="rect">
            <a:avLst/>
          </a:prstGeom>
          <a:noFill/>
        </p:spPr>
        <p:txBody>
          <a:bodyPr wrap="none" lIns="0" tIns="0" rIns="0" bIns="0">
            <a:spAutoFit/>
          </a:bodyPr>
          <a:lstStyle/>
          <a:p>
            <a:pPr>
              <a:defRPr sz="900">
                <a:solidFill>
                  <a:srgbClr val="64748B"/>
                </a:solidFill>
                <a:latin typeface="Plus Jakarta Sans"/>
              </a:defRPr>
            </a:pPr>
            <a:r>
              <a:t>CLAIMGUARD PRODUCT PITCH   |   SLIDE 15 OF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